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8" r:id="rId4"/>
    <p:sldId id="264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 &amp; agenda" id="{96A58636-8643-48CB-BA56-ACF24CF163C6}">
          <p14:sldIdLst>
            <p14:sldId id="256"/>
          </p14:sldIdLst>
        </p14:section>
        <p14:section name="Koncept &amp; værdi" id="{524110A8-CAED-4E93-88A0-69FD43FD7757}">
          <p14:sldIdLst>
            <p14:sldId id="270"/>
            <p14:sldId id="268"/>
          </p14:sldIdLst>
        </p14:section>
        <p14:section name="Designvalg &amp; metode" id="{97F2AAC7-0037-4F7B-BF38-CDC27E314779}">
          <p14:sldIdLst>
            <p14:sldId id="264"/>
          </p14:sldIdLst>
        </p14:section>
        <p14:section name="Foreløbig tidsplan" id="{087D5F7E-138E-4463-BD42-A1D03346091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D9E1"/>
    <a:srgbClr val="598097"/>
    <a:srgbClr val="FAF4F5"/>
    <a:srgbClr val="9F2936"/>
    <a:srgbClr val="E7E7E7"/>
    <a:srgbClr val="800000"/>
    <a:srgbClr val="FF2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DFB0B-D9C0-A865-D982-CBB479CC7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81650-9FC1-B5AF-72B1-970E1482A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51DAF-0E58-E47B-DC13-B5D442DB1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EC8BE-2729-BAB9-A83F-CADAAA26A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72629-FD4C-BC7A-1909-C318D7E7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7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FD1E-103A-B089-483D-4B0E70D03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E3D99-061E-E8C7-867D-68643A9C7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0539C-CDBE-6B10-3B67-D6498D4E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A84F1-A8A7-9900-9BBB-0AA0389B8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7CF-4545-D31F-0E0D-471F1FDE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C50E-436D-B385-A9BD-969DAA81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15AA-004A-2408-F8FD-AF21BB96F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53CAE-66BA-06E5-5940-B10089F3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44665-1706-6ACC-06B6-8EEB8CB2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C41A0-5B41-7066-49A2-8884A5CC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59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E0BF-3EA8-5B2B-C83B-3E68988A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C2B3C-6F91-EC1B-FC94-0061A9EFD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A4A64-E31B-96B7-A73A-C56AFF998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F116E-3201-DDDD-CA52-F4DFCADE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913FE-5FF6-B8A4-6881-B0A3D701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AA7F7-007A-A6A0-EDB4-3D903275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3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F8F6-B923-A426-E2E3-68984EE8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8CADF-28EC-03F6-1641-77BAB61A7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476DF-8896-8FD7-7E75-7A7EFBF3A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AB45C-1B54-15D5-927B-7EE5A2FB6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26A18-66BA-49EA-2856-A932D2BE8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8E2637-228F-4F4D-443A-74D27601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207C8A-FBDA-C200-39F0-3DDB748D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78A02-5047-1322-C803-6348EABA2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98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3E2E-3E55-2AA7-5EEF-01D51CAE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AC5A9-5145-22B8-EF10-10F740EA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CED23-0D2F-98B0-B2B2-714B7AB2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F30CD-D206-6C02-FDD3-D3DBC0BA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1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B459B5-E844-3C14-3A6F-1B3F3A20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A5E9D-A7B9-39EF-A0E5-140A7713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C50E2-1AE8-53F4-FE57-BC9F06090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3552-3CC1-3FCE-A77A-142FB0DC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C0D64-B667-8818-C69D-390E1EA25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DE93A-6E64-EEA4-E81C-37B27989B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53368-7E11-64E5-70F8-E3141D9A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919AE-29A0-761E-D52A-E4ACA62A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03D40-1C4D-7F23-F030-A275286E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9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E0A5-4E65-1B3B-E236-D9DA7886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E3A4DE-1530-64E1-F706-D2E502739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53B34-C1C5-CE7D-C2AD-D48E99D50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49E95-5249-FA16-8BF7-2BF63E81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45FF3-E57D-ECA9-627E-564A70E0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F97FC-E9F3-ACBB-D148-C69BE375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7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45542-281F-AD3B-2895-4D871314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AF355-D964-9963-3001-261277901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67392-2FF1-A161-55D4-27C3BEE3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0BFE4-EDAD-4C15-23D5-C9380155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05848-97E9-FD67-6F63-B6FAE553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2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939402-EE42-7406-563A-C94238CDF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C25E1-CD5D-5866-5A92-DC15C264D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46AF3-3F0D-C989-A0BF-30CE98E2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150F2-91A6-8BAF-1240-6219BB437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5D0A7-FCE2-0A7C-CC29-B488AC6E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8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C956F-AF1A-EE2F-2929-C07FA2DC0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45044-BC61-B0E4-AB39-402454E56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8B823-DC90-1A81-7D9E-FBE13B8AC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78DBF-31E1-4508-86AF-01CAFCE9DF79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F5F83-809F-5E43-F3A4-0E2D89B96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0BFCC-3497-67E3-D696-08F5BBF34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2A4B9-C9BA-4E84-AAA4-F181854C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46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svg"/><Relationship Id="rId7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bout ENIGMA - Museum of Communication">
            <a:extLst>
              <a:ext uri="{FF2B5EF4-FFF2-40B4-BE49-F238E27FC236}">
                <a16:creationId xmlns:a16="http://schemas.microsoft.com/office/drawing/2014/main" id="{DF6AC44A-235C-8FF4-52C3-0F2DAD7B0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7" b="5137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C85E59-F0C1-AF52-99BC-521A9C858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928" y="768096"/>
            <a:ext cx="10101072" cy="2970467"/>
          </a:xfrm>
        </p:spPr>
        <p:txBody>
          <a:bodyPr>
            <a:normAutofit fontScale="90000"/>
          </a:bodyPr>
          <a:lstStyle/>
          <a:p>
            <a:pPr algn="l"/>
            <a:r>
              <a:rPr lang="da-DK" dirty="0">
                <a:solidFill>
                  <a:schemeClr val="bg1"/>
                </a:solidFill>
                <a:highlight>
                  <a:srgbClr val="800000"/>
                </a:highlight>
              </a:rPr>
              <a:t>QR-baseret</a:t>
            </a:r>
            <a:br>
              <a:rPr lang="da-DK" dirty="0">
                <a:solidFill>
                  <a:schemeClr val="bg1"/>
                </a:solidFill>
                <a:highlight>
                  <a:srgbClr val="800000"/>
                </a:highlight>
              </a:rPr>
            </a:br>
            <a:r>
              <a:rPr lang="da-DK" dirty="0">
                <a:solidFill>
                  <a:schemeClr val="bg1"/>
                </a:solidFill>
                <a:highlight>
                  <a:srgbClr val="800000"/>
                </a:highlight>
              </a:rPr>
              <a:t>konkurrence-</a:t>
            </a:r>
            <a:br>
              <a:rPr lang="da-DK" dirty="0">
                <a:solidFill>
                  <a:schemeClr val="bg1"/>
                </a:solidFill>
                <a:highlight>
                  <a:srgbClr val="800000"/>
                </a:highlight>
              </a:rPr>
            </a:br>
            <a:r>
              <a:rPr lang="da-DK" dirty="0">
                <a:solidFill>
                  <a:schemeClr val="bg1"/>
                </a:solidFill>
                <a:highlight>
                  <a:srgbClr val="800000"/>
                </a:highlight>
              </a:rPr>
              <a:t>platform</a:t>
            </a:r>
            <a:br>
              <a:rPr lang="da-DK" dirty="0">
                <a:solidFill>
                  <a:schemeClr val="bg1"/>
                </a:solidFill>
                <a:highlight>
                  <a:srgbClr val="800000"/>
                </a:highlight>
              </a:rPr>
            </a:br>
            <a:r>
              <a:rPr lang="da-DK" dirty="0">
                <a:solidFill>
                  <a:schemeClr val="bg1"/>
                </a:solidFill>
                <a:highlight>
                  <a:srgbClr val="800000"/>
                </a:highlight>
              </a:rPr>
              <a:t>i </a:t>
            </a:r>
            <a:r>
              <a:rPr lang="da-DK" dirty="0" err="1">
                <a:solidFill>
                  <a:schemeClr val="bg1"/>
                </a:solidFill>
                <a:highlight>
                  <a:srgbClr val="800000"/>
                </a:highlight>
              </a:rPr>
              <a:t>Arcadeum</a:t>
            </a:r>
            <a:endParaRPr lang="en-US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D622C-10BE-66FF-5104-24AD252C9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464" y="3785616"/>
            <a:ext cx="9144000" cy="1655762"/>
          </a:xfrm>
        </p:spPr>
        <p:txBody>
          <a:bodyPr/>
          <a:lstStyle/>
          <a:p>
            <a:pPr algn="l"/>
            <a:r>
              <a:rPr lang="da-DK" dirty="0">
                <a:solidFill>
                  <a:schemeClr val="bg1"/>
                </a:solidFill>
                <a:highlight>
                  <a:srgbClr val="800000"/>
                </a:highlight>
              </a:rPr>
              <a:t>Koncept &amp; Værdi</a:t>
            </a:r>
          </a:p>
          <a:p>
            <a:pPr algn="l"/>
            <a:r>
              <a:rPr lang="da-DK" dirty="0">
                <a:solidFill>
                  <a:schemeClr val="bg1"/>
                </a:solidFill>
                <a:highlight>
                  <a:srgbClr val="800000"/>
                </a:highlight>
              </a:rPr>
              <a:t>Designvalg &amp; metode</a:t>
            </a:r>
          </a:p>
          <a:p>
            <a:pPr algn="l"/>
            <a:r>
              <a:rPr lang="da-DK" dirty="0">
                <a:solidFill>
                  <a:schemeClr val="bg1"/>
                </a:solidFill>
                <a:highlight>
                  <a:srgbClr val="800000"/>
                </a:highlight>
              </a:rPr>
              <a:t>Foreløbig tidsplan</a:t>
            </a:r>
            <a:endParaRPr lang="en-US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  <p:pic>
        <p:nvPicPr>
          <p:cNvPr id="8" name="Picture 10" descr="ENIGMA – Museum for post, tele og kommunikation">
            <a:extLst>
              <a:ext uri="{FF2B5EF4-FFF2-40B4-BE49-F238E27FC236}">
                <a16:creationId xmlns:a16="http://schemas.microsoft.com/office/drawing/2014/main" id="{60BD594F-AF48-229C-1688-83F600EF9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271" b="94737" l="2895" r="97632">
                        <a14:foregroundMark x1="62368" y1="31579" x2="51842" y2="62406"/>
                        <a14:foregroundMark x1="51842" y1="62406" x2="62632" y2="89474"/>
                        <a14:foregroundMark x1="62632" y1="89474" x2="62895" y2="90977"/>
                        <a14:foregroundMark x1="61842" y1="27068" x2="51579" y2="52632"/>
                        <a14:foregroundMark x1="51842" y1="41353" x2="53158" y2="9023"/>
                        <a14:foregroundMark x1="55789" y1="8271" x2="61316" y2="12030"/>
                        <a14:foregroundMark x1="61316" y1="14286" x2="62105" y2="26316"/>
                        <a14:foregroundMark x1="52895" y1="69925" x2="54737" y2="90977"/>
                        <a14:foregroundMark x1="61053" y1="87218" x2="61842" y2="63158"/>
                        <a14:foregroundMark x1="69474" y1="14286" x2="69211" y2="94737"/>
                        <a14:foregroundMark x1="71053" y1="10526" x2="72105" y2="23308"/>
                        <a14:foregroundMark x1="72368" y1="25564" x2="74211" y2="43609"/>
                        <a14:foregroundMark x1="73421" y1="50376" x2="75000" y2="86466"/>
                        <a14:foregroundMark x1="77105" y1="60902" x2="79737" y2="12782"/>
                        <a14:foregroundMark x1="80526" y1="11278" x2="82105" y2="89474"/>
                        <a14:foregroundMark x1="91579" y1="18045" x2="88684" y2="87970"/>
                        <a14:foregroundMark x1="91316" y1="73684" x2="94474" y2="72932"/>
                        <a14:foregroundMark x1="94211" y1="25564" x2="97632" y2="81203"/>
                        <a14:foregroundMark x1="43947" y1="20301" x2="44211" y2="63158"/>
                        <a14:foregroundMark x1="35526" y1="30827" x2="37368" y2="74436"/>
                        <a14:foregroundMark x1="37368" y1="74436" x2="37368" y2="74436"/>
                        <a14:foregroundMark x1="5526" y1="18045" x2="3158" y2="64662"/>
                        <a14:foregroundMark x1="2895" y1="72180" x2="7632" y2="87218"/>
                        <a14:foregroundMark x1="21579" y1="24812" x2="25000" y2="28571"/>
                        <a14:foregroundMark x1="61579" y1="30075" x2="53158" y2="55639"/>
                        <a14:foregroundMark x1="59474" y1="58647" x2="52105" y2="26316"/>
                        <a14:foregroundMark x1="52105" y1="26316" x2="61579" y2="26316"/>
                        <a14:foregroundMark x1="60789" y1="33835" x2="60263" y2="16541"/>
                        <a14:foregroundMark x1="59474" y1="20301" x2="56053" y2="10526"/>
                        <a14:foregroundMark x1="60000" y1="14286" x2="52632" y2="18797"/>
                        <a14:foregroundMark x1="52632" y1="19549" x2="51842" y2="63910"/>
                        <a14:foregroundMark x1="52368" y1="77444" x2="61053" y2="60902"/>
                        <a14:foregroundMark x1="58684" y1="55639" x2="62368" y2="69925"/>
                        <a14:foregroundMark x1="69211" y1="21053" x2="68947" y2="42857"/>
                        <a14:foregroundMark x1="45263" y1="19549" x2="43947" y2="601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964" y="134682"/>
            <a:ext cx="361950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5868DCCF-267A-5A75-51C2-3530E798C9F3}"/>
              </a:ext>
            </a:extLst>
          </p:cNvPr>
          <p:cNvSpPr/>
          <p:nvPr/>
        </p:nvSpPr>
        <p:spPr>
          <a:xfrm>
            <a:off x="7794133" y="1263237"/>
            <a:ext cx="1576578" cy="3391059"/>
          </a:xfrm>
          <a:prstGeom prst="downArrow">
            <a:avLst>
              <a:gd name="adj1" fmla="val 17520"/>
              <a:gd name="adj2" fmla="val 65094"/>
            </a:avLst>
          </a:prstGeom>
          <a:gradFill>
            <a:gsLst>
              <a:gs pos="0">
                <a:srgbClr val="FF2838"/>
              </a:gs>
              <a:gs pos="94000">
                <a:srgbClr val="80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E7C5B40-5825-D3BC-6624-4B077C249BCD}"/>
              </a:ext>
            </a:extLst>
          </p:cNvPr>
          <p:cNvGrpSpPr/>
          <p:nvPr/>
        </p:nvGrpSpPr>
        <p:grpSpPr>
          <a:xfrm>
            <a:off x="5340906" y="4506658"/>
            <a:ext cx="5989256" cy="1995804"/>
            <a:chOff x="5697522" y="4506658"/>
            <a:chExt cx="5989256" cy="1995804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98640846-4E7A-B80C-77E2-BF5FC079A9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92150" y="4506660"/>
              <a:ext cx="2994628" cy="1995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520A66DC-038D-D4F5-9F08-2A5923C90E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522" y="4506659"/>
              <a:ext cx="2994628" cy="19958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B728FD2-A266-9E95-19A8-3CF4A6A57C10}"/>
                </a:ext>
              </a:extLst>
            </p:cNvPr>
            <p:cNvSpPr/>
            <p:nvPr/>
          </p:nvSpPr>
          <p:spPr>
            <a:xfrm>
              <a:off x="5697522" y="4506658"/>
              <a:ext cx="5989256" cy="1995803"/>
            </a:xfrm>
            <a:prstGeom prst="rect">
              <a:avLst/>
            </a:prstGeom>
            <a:noFill/>
            <a:ln w="76200">
              <a:solidFill>
                <a:srgbClr val="8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36" name="Picture 12" descr="ENIGMA – Museum for post, tele og kommunikation">
            <a:extLst>
              <a:ext uri="{FF2B5EF4-FFF2-40B4-BE49-F238E27FC236}">
                <a16:creationId xmlns:a16="http://schemas.microsoft.com/office/drawing/2014/main" id="{9C26EF46-700E-5E4F-2FE9-C93F6C185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969" b="95652" l="639" r="98083">
                        <a14:foregroundMark x1="6425" y1="20497" x2="6709" y2="18012"/>
                        <a14:foregroundMark x1="6283" y1="21739" x2="6425" y2="20497"/>
                        <a14:foregroundMark x1="6141" y1="22981" x2="6283" y2="21739"/>
                        <a14:foregroundMark x1="5999" y1="24224" x2="6141" y2="22981"/>
                        <a14:foregroundMark x1="5928" y1="24845" x2="5999" y2="24224"/>
                        <a14:foregroundMark x1="5786" y1="26087" x2="5928" y2="24845"/>
                        <a14:foregroundMark x1="5573" y1="27950" x2="5786" y2="26087"/>
                        <a14:foregroundMark x1="5289" y1="30435" x2="5573" y2="27950"/>
                        <a14:foregroundMark x1="4153" y1="40373" x2="5289" y2="30435"/>
                        <a14:foregroundMark x1="9265" y1="30435" x2="9904" y2="33540"/>
                        <a14:foregroundMark x1="8754" y1="27950" x2="9265" y2="30435"/>
                        <a14:foregroundMark x1="8371" y1="26087" x2="8754" y2="27950"/>
                        <a14:foregroundMark x1="8115" y1="24845" x2="8371" y2="26087"/>
                        <a14:foregroundMark x1="7987" y1="24224" x2="8115" y2="24845"/>
                        <a14:foregroundMark x1="7731" y1="22981" x2="7987" y2="24224"/>
                        <a14:foregroundMark x1="7476" y1="21739" x2="7731" y2="22981"/>
                        <a14:foregroundMark x1="7220" y1="20497" x2="7476" y2="21739"/>
                        <a14:foregroundMark x1="6709" y1="18012" x2="7220" y2="20497"/>
                        <a14:foregroundMark x1="9904" y1="33540" x2="5431" y2="36025"/>
                        <a14:foregroundMark x1="7029" y1="7453" x2="9585" y2="17391"/>
                        <a14:foregroundMark x1="22364" y1="10559" x2="22364" y2="32298"/>
                        <a14:foregroundMark x1="21725" y1="7453" x2="29073" y2="7453"/>
                        <a14:foregroundMark x1="29073" y1="7453" x2="37700" y2="11180"/>
                        <a14:foregroundMark x1="37700" y1="11180" x2="34824" y2="24224"/>
                        <a14:foregroundMark x1="34824" y1="24224" x2="27157" y2="25466"/>
                        <a14:foregroundMark x1="27157" y1="25466" x2="35783" y2="27329"/>
                        <a14:foregroundMark x1="35783" y1="27329" x2="39617" y2="39752"/>
                        <a14:foregroundMark x1="22045" y1="40373" x2="19169" y2="14907"/>
                        <a14:foregroundMark x1="19169" y1="14907" x2="19808" y2="29193"/>
                        <a14:foregroundMark x1="19808" y1="29193" x2="23003" y2="38509"/>
                        <a14:foregroundMark x1="37061" y1="6211" x2="40895" y2="34783"/>
                        <a14:foregroundMark x1="40895" y1="34783" x2="38978" y2="40994"/>
                        <a14:foregroundMark x1="58756" y1="9746" x2="53355" y2="8696"/>
                        <a14:foregroundMark x1="62938" y1="10559" x2="61353" y2="10251"/>
                        <a14:foregroundMark x1="66134" y1="11180" x2="62938" y2="10559"/>
                        <a14:foregroundMark x1="53002" y1="10559" x2="51118" y2="20497"/>
                        <a14:foregroundMark x1="53355" y1="8696" x2="53002" y2="10559"/>
                        <a14:foregroundMark x1="51118" y1="20497" x2="51118" y2="32919"/>
                        <a14:foregroundMark x1="51118" y1="32919" x2="59425" y2="42857"/>
                        <a14:foregroundMark x1="59425" y1="42857" x2="65495" y2="39130"/>
                        <a14:foregroundMark x1="81242" y1="12422" x2="82748" y2="7453"/>
                        <a14:foregroundMark x1="72204" y1="42236" x2="81242" y2="12422"/>
                        <a14:foregroundMark x1="84235" y1="12422" x2="92971" y2="41615"/>
                        <a14:foregroundMark x1="82748" y1="7453" x2="84235" y2="12422"/>
                        <a14:foregroundMark x1="779" y1="88199" x2="639" y2="96894"/>
                        <a14:foregroundMark x1="898" y1="80754" x2="788" y2="87578"/>
                        <a14:foregroundMark x1="1278" y1="57143" x2="1160" y2="64467"/>
                        <a14:foregroundMark x1="6238" y1="87578" x2="7668" y2="84472"/>
                        <a14:foregroundMark x1="3053" y1="94497" x2="3543" y2="93432"/>
                        <a14:foregroundMark x1="2236" y1="96273" x2="2597" y2="95488"/>
                        <a14:foregroundMark x1="6180" y1="59016" x2="6070" y2="57143"/>
                        <a14:foregroundMark x1="7668" y1="84472" x2="7389" y2="79705"/>
                        <a14:foregroundMark x1="6070" y1="57143" x2="2875" y2="56522"/>
                        <a14:foregroundMark x1="17565" y1="82609" x2="18211" y2="89441"/>
                        <a14:foregroundMark x1="15335" y1="59006" x2="17565" y2="82609"/>
                        <a14:foregroundMark x1="18211" y1="89441" x2="28435" y2="90062"/>
                        <a14:foregroundMark x1="21917" y1="82609" x2="17572" y2="77640"/>
                        <a14:foregroundMark x1="28435" y1="90062" x2="21917" y2="82609"/>
                        <a14:foregroundMark x1="17572" y1="77640" x2="26198" y2="74534"/>
                        <a14:foregroundMark x1="26198" y1="74534" x2="16294" y2="73292"/>
                        <a14:foregroundMark x1="16294" y1="73292" x2="25879" y2="60870"/>
                        <a14:foregroundMark x1="25879" y1="60870" x2="35144" y2="60248"/>
                        <a14:foregroundMark x1="30032" y1="88199" x2="32588" y2="87578"/>
                        <a14:foregroundMark x1="41534" y1="57143" x2="41534" y2="82609"/>
                        <a14:foregroundMark x1="41534" y1="82609" x2="44728" y2="94410"/>
                        <a14:foregroundMark x1="44728" y1="94410" x2="52396" y2="96273"/>
                        <a14:foregroundMark x1="52396" y1="96273" x2="59105" y2="88199"/>
                        <a14:foregroundMark x1="59105" y1="88199" x2="60064" y2="55901"/>
                        <a14:foregroundMark x1="67732" y1="95652" x2="67732" y2="61491"/>
                        <a14:foregroundMark x1="67732" y1="61491" x2="74441" y2="68323"/>
                        <a14:foregroundMark x1="74441" y1="68323" x2="78896" y2="79293"/>
                        <a14:foregroundMark x1="87315" y1="73029" x2="89137" y2="71429"/>
                        <a14:foregroundMark x1="89137" y1="71429" x2="95527" y2="70186"/>
                        <a14:foregroundMark x1="95598" y1="71429" x2="96805" y2="92547"/>
                        <a14:foregroundMark x1="95527" y1="70186" x2="95598" y2="71429"/>
                        <a14:foregroundMark x1="98083" y1="67702" x2="91374" y2="65217"/>
                        <a14:foregroundMark x1="91374" y1="65217" x2="91374" y2="65217"/>
                        <a14:foregroundMark x1="83494" y1="79503" x2="85623" y2="78261"/>
                        <a14:foregroundMark x1="79233" y1="81988" x2="83494" y2="79503"/>
                        <a14:foregroundMark x1="79872" y1="86335" x2="85304" y2="85093"/>
                        <a14:backgroundMark x1="30351" y1="47826" x2="31629" y2="37267"/>
                        <a14:backgroundMark x1="4153" y1="65217" x2="4792" y2="80124"/>
                        <a14:backgroundMark x1="4473" y1="60870" x2="6070" y2="65839"/>
                        <a14:backgroundMark x1="3834" y1="90062" x2="4473" y2="84472"/>
                        <a14:backgroundMark x1="4153" y1="91925" x2="4792" y2="86335"/>
                        <a14:backgroundMark x1="5112" y1="91304" x2="5112" y2="86957"/>
                        <a14:backgroundMark x1="4792" y1="91304" x2="4792" y2="87578"/>
                        <a14:backgroundMark x1="3834" y1="93168" x2="4792" y2="92547"/>
                        <a14:backgroundMark x1="5751" y1="87578" x2="5751" y2="88199"/>
                        <a14:backgroundMark x1="7348" y1="30435" x2="7348" y2="30435"/>
                        <a14:backgroundMark x1="7348" y1="27950" x2="7348" y2="27950"/>
                        <a14:backgroundMark x1="7348" y1="24845" x2="7348" y2="24845"/>
                        <a14:backgroundMark x1="7668" y1="26087" x2="7668" y2="26087"/>
                        <a14:backgroundMark x1="7348" y1="24224" x2="7348" y2="24224"/>
                        <a14:backgroundMark x1="7668" y1="24224" x2="7668" y2="24224"/>
                        <a14:backgroundMark x1="7668" y1="22981" x2="7668" y2="22981"/>
                        <a14:backgroundMark x1="7668" y1="21739" x2="7668" y2="21739"/>
                        <a14:backgroundMark x1="7348" y1="20497" x2="7348" y2="20497"/>
                        <a14:backgroundMark x1="58466" y1="10559" x2="61022" y2="11180"/>
                        <a14:backgroundMark x1="57827" y1="10559" x2="57827" y2="10559"/>
                        <a14:backgroundMark x1="61661" y1="11180" x2="61661" y2="11180"/>
                        <a14:backgroundMark x1="82109" y1="12422" x2="82109" y2="12422"/>
                        <a14:backgroundMark x1="23003" y1="82609" x2="23003" y2="82609"/>
                        <a14:backgroundMark x1="82109" y1="76398" x2="82428" y2="77640"/>
                        <a14:backgroundMark x1="82428" y1="79503" x2="82428" y2="79503"/>
                        <a14:backgroundMark x1="92013" y1="71429" x2="92013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366" y="3434629"/>
            <a:ext cx="2065988" cy="1062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18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B37FA5-B411-F4AC-E08F-6A820BCE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CFFB24-0D71-2EF1-382C-B4B26C3CB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805C3-DB07-249E-32FA-C255BA6E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da-DK" dirty="0">
                <a:solidFill>
                  <a:srgbClr val="FFFFFF"/>
                </a:solidFill>
              </a:rPr>
              <a:t>Koncept &amp; Værdi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07D846-4AA2-4F97-089A-368E2C7D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D6C88271-266E-7953-3B66-77220AF12964}"/>
              </a:ext>
            </a:extLst>
          </p:cNvPr>
          <p:cNvSpPr/>
          <p:nvPr/>
        </p:nvSpPr>
        <p:spPr>
          <a:xfrm>
            <a:off x="932688" y="1980368"/>
            <a:ext cx="5248656" cy="3992422"/>
          </a:xfrm>
          <a:prstGeom prst="wedgeEllipseCallout">
            <a:avLst>
              <a:gd name="adj1" fmla="val 69857"/>
              <a:gd name="adj2" fmla="val -23949"/>
            </a:avLst>
          </a:prstGeom>
          <a:solidFill>
            <a:srgbClr val="CDD9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 descr="Smart Phone with solid fill">
            <a:extLst>
              <a:ext uri="{FF2B5EF4-FFF2-40B4-BE49-F238E27FC236}">
                <a16:creationId xmlns:a16="http://schemas.microsoft.com/office/drawing/2014/main" id="{94BF49E8-E022-E7D4-9254-45BCE3039C15}"/>
              </a:ext>
            </a:extLst>
          </p:cNvPr>
          <p:cNvSpPr/>
          <p:nvPr/>
        </p:nvSpPr>
        <p:spPr>
          <a:xfrm>
            <a:off x="2802000" y="1980368"/>
            <a:ext cx="1512000" cy="1512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8EB576F-F4B0-4A8C-DEEE-9A234D8C584C}"/>
              </a:ext>
            </a:extLst>
          </p:cNvPr>
          <p:cNvSpPr/>
          <p:nvPr/>
        </p:nvSpPr>
        <p:spPr>
          <a:xfrm>
            <a:off x="1398000" y="3664042"/>
            <a:ext cx="4320000" cy="648000"/>
          </a:xfrm>
          <a:custGeom>
            <a:avLst/>
            <a:gdLst>
              <a:gd name="connsiteX0" fmla="*/ 0 w 4320000"/>
              <a:gd name="connsiteY0" fmla="*/ 0 h 648000"/>
              <a:gd name="connsiteX1" fmla="*/ 4320000 w 4320000"/>
              <a:gd name="connsiteY1" fmla="*/ 0 h 648000"/>
              <a:gd name="connsiteX2" fmla="*/ 4320000 w 4320000"/>
              <a:gd name="connsiteY2" fmla="*/ 648000 h 648000"/>
              <a:gd name="connsiteX3" fmla="*/ 0 w 4320000"/>
              <a:gd name="connsiteY3" fmla="*/ 648000 h 648000"/>
              <a:gd name="connsiteX4" fmla="*/ 0 w 4320000"/>
              <a:gd name="connsiteY4" fmla="*/ 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0000" h="648000">
                <a:moveTo>
                  <a:pt x="0" y="0"/>
                </a:moveTo>
                <a:lnTo>
                  <a:pt x="4320000" y="0"/>
                </a:lnTo>
                <a:lnTo>
                  <a:pt x="4320000" y="648000"/>
                </a:lnTo>
                <a:lnTo>
                  <a:pt x="0" y="648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8890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da-DK" sz="2000" kern="1200" dirty="0"/>
              <a:t>Udvikling af hjemmeside til at facilitere engagement</a:t>
            </a:r>
            <a:endParaRPr lang="en-US" sz="20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CA256D3-EFD9-E79E-9054-844F23244F66}"/>
              </a:ext>
            </a:extLst>
          </p:cNvPr>
          <p:cNvSpPr/>
          <p:nvPr/>
        </p:nvSpPr>
        <p:spPr>
          <a:xfrm>
            <a:off x="1398000" y="4391890"/>
            <a:ext cx="4320000" cy="1580900"/>
          </a:xfrm>
          <a:custGeom>
            <a:avLst/>
            <a:gdLst>
              <a:gd name="connsiteX0" fmla="*/ 0 w 4320000"/>
              <a:gd name="connsiteY0" fmla="*/ 0 h 1580900"/>
              <a:gd name="connsiteX1" fmla="*/ 4320000 w 4320000"/>
              <a:gd name="connsiteY1" fmla="*/ 0 h 1580900"/>
              <a:gd name="connsiteX2" fmla="*/ 4320000 w 4320000"/>
              <a:gd name="connsiteY2" fmla="*/ 1580900 h 1580900"/>
              <a:gd name="connsiteX3" fmla="*/ 0 w 4320000"/>
              <a:gd name="connsiteY3" fmla="*/ 1580900 h 1580900"/>
              <a:gd name="connsiteX4" fmla="*/ 0 w 4320000"/>
              <a:gd name="connsiteY4" fmla="*/ 0 h 158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0000" h="1580900">
                <a:moveTo>
                  <a:pt x="0" y="0"/>
                </a:moveTo>
                <a:lnTo>
                  <a:pt x="4320000" y="0"/>
                </a:lnTo>
                <a:lnTo>
                  <a:pt x="4320000" y="1580900"/>
                </a:lnTo>
                <a:lnTo>
                  <a:pt x="0" y="15809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6667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a-DK" sz="1500" kern="1200" dirty="0"/>
              <a:t>- Gæster i </a:t>
            </a:r>
            <a:r>
              <a:rPr lang="da-DK" sz="1500" kern="1200" dirty="0" err="1"/>
              <a:t>Arcadeum</a:t>
            </a:r>
            <a:r>
              <a:rPr lang="da-DK" sz="1500" kern="1200" dirty="0"/>
              <a:t> scanner QR-kode</a:t>
            </a:r>
            <a:endParaRPr lang="en-US" sz="1500" kern="1200" dirty="0"/>
          </a:p>
          <a:p>
            <a:pPr marL="0" lvl="0" indent="0" algn="l" defTabSz="6667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a-DK" sz="1500" kern="1200" dirty="0"/>
              <a:t>- Hjemmeside faciliterer konkurrence mellem gæster</a:t>
            </a:r>
            <a:endParaRPr lang="en-US" sz="1500" kern="1200" dirty="0"/>
          </a:p>
        </p:txBody>
      </p:sp>
      <p:sp>
        <p:nvSpPr>
          <p:cNvPr id="21" name="Rectangle 20" descr="Devil Face Outline">
            <a:extLst>
              <a:ext uri="{FF2B5EF4-FFF2-40B4-BE49-F238E27FC236}">
                <a16:creationId xmlns:a16="http://schemas.microsoft.com/office/drawing/2014/main" id="{A4378A77-113C-CD7A-90D2-3576AF33CDF2}"/>
              </a:ext>
            </a:extLst>
          </p:cNvPr>
          <p:cNvSpPr/>
          <p:nvPr/>
        </p:nvSpPr>
        <p:spPr>
          <a:xfrm>
            <a:off x="7878000" y="1980368"/>
            <a:ext cx="1512000" cy="151200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FD9A922-086B-ED65-29BA-957129F49DD6}"/>
              </a:ext>
            </a:extLst>
          </p:cNvPr>
          <p:cNvSpPr/>
          <p:nvPr/>
        </p:nvSpPr>
        <p:spPr>
          <a:xfrm>
            <a:off x="6474000" y="3664042"/>
            <a:ext cx="4320000" cy="648000"/>
          </a:xfrm>
          <a:custGeom>
            <a:avLst/>
            <a:gdLst>
              <a:gd name="connsiteX0" fmla="*/ 0 w 4320000"/>
              <a:gd name="connsiteY0" fmla="*/ 0 h 648000"/>
              <a:gd name="connsiteX1" fmla="*/ 4320000 w 4320000"/>
              <a:gd name="connsiteY1" fmla="*/ 0 h 648000"/>
              <a:gd name="connsiteX2" fmla="*/ 4320000 w 4320000"/>
              <a:gd name="connsiteY2" fmla="*/ 648000 h 648000"/>
              <a:gd name="connsiteX3" fmla="*/ 0 w 4320000"/>
              <a:gd name="connsiteY3" fmla="*/ 648000 h 648000"/>
              <a:gd name="connsiteX4" fmla="*/ 0 w 4320000"/>
              <a:gd name="connsiteY4" fmla="*/ 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0000" h="648000">
                <a:moveTo>
                  <a:pt x="0" y="0"/>
                </a:moveTo>
                <a:lnTo>
                  <a:pt x="4320000" y="0"/>
                </a:lnTo>
                <a:lnTo>
                  <a:pt x="4320000" y="648000"/>
                </a:lnTo>
                <a:lnTo>
                  <a:pt x="0" y="648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8890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da-DK" sz="2000" kern="1200" dirty="0"/>
              <a:t>Værdi for </a:t>
            </a:r>
            <a:r>
              <a:rPr lang="da-DK" sz="2000" kern="1200" dirty="0" err="1"/>
              <a:t>Enigma</a:t>
            </a:r>
            <a:br>
              <a:rPr lang="da-DK" sz="2000" dirty="0"/>
            </a:br>
            <a:r>
              <a:rPr lang="da-DK" sz="2000" dirty="0"/>
              <a:t>&amp; deres behov</a:t>
            </a:r>
            <a:endParaRPr lang="en-US" sz="2000" kern="12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77404CE-62F4-53D3-8CB8-9B151DE1B8F7}"/>
              </a:ext>
            </a:extLst>
          </p:cNvPr>
          <p:cNvSpPr/>
          <p:nvPr/>
        </p:nvSpPr>
        <p:spPr>
          <a:xfrm>
            <a:off x="6474000" y="4391890"/>
            <a:ext cx="4320000" cy="1580900"/>
          </a:xfrm>
          <a:custGeom>
            <a:avLst/>
            <a:gdLst>
              <a:gd name="connsiteX0" fmla="*/ 0 w 4320000"/>
              <a:gd name="connsiteY0" fmla="*/ 0 h 1580900"/>
              <a:gd name="connsiteX1" fmla="*/ 4320000 w 4320000"/>
              <a:gd name="connsiteY1" fmla="*/ 0 h 1580900"/>
              <a:gd name="connsiteX2" fmla="*/ 4320000 w 4320000"/>
              <a:gd name="connsiteY2" fmla="*/ 1580900 h 1580900"/>
              <a:gd name="connsiteX3" fmla="*/ 0 w 4320000"/>
              <a:gd name="connsiteY3" fmla="*/ 1580900 h 1580900"/>
              <a:gd name="connsiteX4" fmla="*/ 0 w 4320000"/>
              <a:gd name="connsiteY4" fmla="*/ 0 h 158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0000" h="1580900">
                <a:moveTo>
                  <a:pt x="0" y="0"/>
                </a:moveTo>
                <a:lnTo>
                  <a:pt x="4320000" y="0"/>
                </a:lnTo>
                <a:lnTo>
                  <a:pt x="4320000" y="1580900"/>
                </a:lnTo>
                <a:lnTo>
                  <a:pt x="0" y="15809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6667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r>
              <a:rPr lang="da-DK" sz="1500" kern="1200" dirty="0"/>
              <a:t>- Støtter mål om at opbygge gæste-engagement i </a:t>
            </a:r>
            <a:r>
              <a:rPr lang="da-DK" sz="1500" kern="1200" dirty="0" err="1"/>
              <a:t>Arcadeum</a:t>
            </a:r>
            <a:endParaRPr lang="en-US" sz="1500" kern="1200" dirty="0"/>
          </a:p>
          <a:p>
            <a:pPr marL="0" lvl="0" indent="0" algn="l" defTabSz="6667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r>
              <a:rPr lang="da-DK" sz="1500" kern="1200" dirty="0"/>
              <a:t>- Web-baseret løsning let at implementere, skalere &amp; vedligeholde</a:t>
            </a:r>
            <a:endParaRPr lang="en-US" sz="1500" kern="1200" dirty="0"/>
          </a:p>
          <a:p>
            <a:pPr marL="0" lvl="0" indent="0" algn="l" defTabSz="6667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r>
              <a:rPr lang="da-DK" sz="1500" kern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- Mulighed for </a:t>
            </a:r>
            <a:r>
              <a:rPr lang="da-DK" sz="1500" kern="12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tracking</a:t>
            </a:r>
            <a:r>
              <a:rPr lang="da-DK" sz="1500" kern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af gæste-adfærd i konkurrence</a:t>
            </a:r>
            <a:endParaRPr lang="en-US" sz="1500" kern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10" descr="ENIGMA – Museum for post, tele og kommunikation">
            <a:extLst>
              <a:ext uri="{FF2B5EF4-FFF2-40B4-BE49-F238E27FC236}">
                <a16:creationId xmlns:a16="http://schemas.microsoft.com/office/drawing/2014/main" id="{E0054780-D633-A111-131B-5A599B213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271" b="94737" l="2895" r="97632">
                        <a14:foregroundMark x1="62368" y1="31579" x2="51842" y2="62406"/>
                        <a14:foregroundMark x1="51842" y1="62406" x2="62632" y2="89474"/>
                        <a14:foregroundMark x1="62632" y1="89474" x2="62895" y2="90977"/>
                        <a14:foregroundMark x1="61842" y1="27068" x2="51579" y2="52632"/>
                        <a14:foregroundMark x1="51842" y1="41353" x2="53158" y2="9023"/>
                        <a14:foregroundMark x1="55789" y1="8271" x2="61316" y2="12030"/>
                        <a14:foregroundMark x1="61316" y1="14286" x2="62105" y2="26316"/>
                        <a14:foregroundMark x1="52895" y1="69925" x2="54737" y2="90977"/>
                        <a14:foregroundMark x1="61053" y1="87218" x2="61842" y2="63158"/>
                        <a14:foregroundMark x1="69474" y1="14286" x2="69211" y2="94737"/>
                        <a14:foregroundMark x1="71053" y1="10526" x2="72105" y2="23308"/>
                        <a14:foregroundMark x1="72368" y1="25564" x2="74211" y2="43609"/>
                        <a14:foregroundMark x1="73421" y1="50376" x2="75000" y2="86466"/>
                        <a14:foregroundMark x1="77105" y1="60902" x2="79737" y2="12782"/>
                        <a14:foregroundMark x1="80526" y1="11278" x2="82105" y2="89474"/>
                        <a14:foregroundMark x1="91579" y1="18045" x2="88684" y2="87970"/>
                        <a14:foregroundMark x1="91316" y1="73684" x2="94474" y2="72932"/>
                        <a14:foregroundMark x1="94211" y1="25564" x2="97632" y2="81203"/>
                        <a14:foregroundMark x1="43947" y1="20301" x2="44211" y2="63158"/>
                        <a14:foregroundMark x1="35526" y1="30827" x2="37368" y2="74436"/>
                        <a14:foregroundMark x1="37368" y1="74436" x2="37368" y2="74436"/>
                        <a14:foregroundMark x1="5526" y1="18045" x2="3158" y2="64662"/>
                        <a14:foregroundMark x1="2895" y1="72180" x2="7632" y2="87218"/>
                        <a14:foregroundMark x1="21579" y1="24812" x2="25000" y2="28571"/>
                        <a14:foregroundMark x1="61579" y1="30075" x2="53158" y2="55639"/>
                        <a14:foregroundMark x1="59474" y1="58647" x2="52105" y2="26316"/>
                        <a14:foregroundMark x1="52105" y1="26316" x2="61579" y2="26316"/>
                        <a14:foregroundMark x1="60789" y1="33835" x2="60263" y2="16541"/>
                        <a14:foregroundMark x1="59474" y1="20301" x2="56053" y2="10526"/>
                        <a14:foregroundMark x1="60000" y1="14286" x2="52632" y2="18797"/>
                        <a14:foregroundMark x1="52632" y1="19549" x2="51842" y2="63910"/>
                        <a14:foregroundMark x1="52368" y1="77444" x2="61053" y2="60902"/>
                        <a14:foregroundMark x1="58684" y1="55639" x2="62368" y2="69925"/>
                        <a14:foregroundMark x1="69211" y1="21053" x2="68947" y2="42857"/>
                        <a14:foregroundMark x1="45263" y1="19549" x2="43947" y2="601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488" y="2485527"/>
            <a:ext cx="2638618" cy="92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ENIGMA – Museum for post, tele og kommunikation">
            <a:extLst>
              <a:ext uri="{FF2B5EF4-FFF2-40B4-BE49-F238E27FC236}">
                <a16:creationId xmlns:a16="http://schemas.microsoft.com/office/drawing/2014/main" id="{0FDAE3BF-BFEA-A156-5638-2575395E8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969" b="95652" l="639" r="98083">
                        <a14:foregroundMark x1="6425" y1="20497" x2="6709" y2="18012"/>
                        <a14:foregroundMark x1="6283" y1="21739" x2="6425" y2="20497"/>
                        <a14:foregroundMark x1="6141" y1="22981" x2="6283" y2="21739"/>
                        <a14:foregroundMark x1="5999" y1="24224" x2="6141" y2="22981"/>
                        <a14:foregroundMark x1="5928" y1="24845" x2="5999" y2="24224"/>
                        <a14:foregroundMark x1="5786" y1="26087" x2="5928" y2="24845"/>
                        <a14:foregroundMark x1="5573" y1="27950" x2="5786" y2="26087"/>
                        <a14:foregroundMark x1="5289" y1="30435" x2="5573" y2="27950"/>
                        <a14:foregroundMark x1="4153" y1="40373" x2="5289" y2="30435"/>
                        <a14:foregroundMark x1="9265" y1="30435" x2="9904" y2="33540"/>
                        <a14:foregroundMark x1="8754" y1="27950" x2="9265" y2="30435"/>
                        <a14:foregroundMark x1="8371" y1="26087" x2="8754" y2="27950"/>
                        <a14:foregroundMark x1="8115" y1="24845" x2="8371" y2="26087"/>
                        <a14:foregroundMark x1="7987" y1="24224" x2="8115" y2="24845"/>
                        <a14:foregroundMark x1="7731" y1="22981" x2="7987" y2="24224"/>
                        <a14:foregroundMark x1="7476" y1="21739" x2="7731" y2="22981"/>
                        <a14:foregroundMark x1="7220" y1="20497" x2="7476" y2="21739"/>
                        <a14:foregroundMark x1="6709" y1="18012" x2="7220" y2="20497"/>
                        <a14:foregroundMark x1="9904" y1="33540" x2="5431" y2="36025"/>
                        <a14:foregroundMark x1="7029" y1="7453" x2="9585" y2="17391"/>
                        <a14:foregroundMark x1="22364" y1="10559" x2="22364" y2="32298"/>
                        <a14:foregroundMark x1="21725" y1="7453" x2="29073" y2="7453"/>
                        <a14:foregroundMark x1="29073" y1="7453" x2="37700" y2="11180"/>
                        <a14:foregroundMark x1="37700" y1="11180" x2="34824" y2="24224"/>
                        <a14:foregroundMark x1="34824" y1="24224" x2="27157" y2="25466"/>
                        <a14:foregroundMark x1="27157" y1="25466" x2="35783" y2="27329"/>
                        <a14:foregroundMark x1="35783" y1="27329" x2="39617" y2="39752"/>
                        <a14:foregroundMark x1="22045" y1="40373" x2="19169" y2="14907"/>
                        <a14:foregroundMark x1="19169" y1="14907" x2="19808" y2="29193"/>
                        <a14:foregroundMark x1="19808" y1="29193" x2="23003" y2="38509"/>
                        <a14:foregroundMark x1="37061" y1="6211" x2="40895" y2="34783"/>
                        <a14:foregroundMark x1="40895" y1="34783" x2="38978" y2="40994"/>
                        <a14:foregroundMark x1="58756" y1="9746" x2="53355" y2="8696"/>
                        <a14:foregroundMark x1="62938" y1="10559" x2="61353" y2="10251"/>
                        <a14:foregroundMark x1="66134" y1="11180" x2="62938" y2="10559"/>
                        <a14:foregroundMark x1="53002" y1="10559" x2="51118" y2="20497"/>
                        <a14:foregroundMark x1="53355" y1="8696" x2="53002" y2="10559"/>
                        <a14:foregroundMark x1="51118" y1="20497" x2="51118" y2="32919"/>
                        <a14:foregroundMark x1="51118" y1="32919" x2="59425" y2="42857"/>
                        <a14:foregroundMark x1="59425" y1="42857" x2="65495" y2="39130"/>
                        <a14:foregroundMark x1="81242" y1="12422" x2="82748" y2="7453"/>
                        <a14:foregroundMark x1="72204" y1="42236" x2="81242" y2="12422"/>
                        <a14:foregroundMark x1="84235" y1="12422" x2="92971" y2="41615"/>
                        <a14:foregroundMark x1="82748" y1="7453" x2="84235" y2="12422"/>
                        <a14:foregroundMark x1="779" y1="88199" x2="639" y2="96894"/>
                        <a14:foregroundMark x1="898" y1="80754" x2="788" y2="87578"/>
                        <a14:foregroundMark x1="1278" y1="57143" x2="1160" y2="64467"/>
                        <a14:foregroundMark x1="6238" y1="87578" x2="7668" y2="84472"/>
                        <a14:foregroundMark x1="3053" y1="94497" x2="3543" y2="93432"/>
                        <a14:foregroundMark x1="2236" y1="96273" x2="2597" y2="95488"/>
                        <a14:foregroundMark x1="6180" y1="59016" x2="6070" y2="57143"/>
                        <a14:foregroundMark x1="7668" y1="84472" x2="7389" y2="79705"/>
                        <a14:foregroundMark x1="6070" y1="57143" x2="2875" y2="56522"/>
                        <a14:foregroundMark x1="17565" y1="82609" x2="18211" y2="89441"/>
                        <a14:foregroundMark x1="15335" y1="59006" x2="17565" y2="82609"/>
                        <a14:foregroundMark x1="18211" y1="89441" x2="28435" y2="90062"/>
                        <a14:foregroundMark x1="21917" y1="82609" x2="17572" y2="77640"/>
                        <a14:foregroundMark x1="28435" y1="90062" x2="21917" y2="82609"/>
                        <a14:foregroundMark x1="17572" y1="77640" x2="26198" y2="74534"/>
                        <a14:foregroundMark x1="26198" y1="74534" x2="16294" y2="73292"/>
                        <a14:foregroundMark x1="16294" y1="73292" x2="25879" y2="60870"/>
                        <a14:foregroundMark x1="25879" y1="60870" x2="35144" y2="60248"/>
                        <a14:foregroundMark x1="30032" y1="88199" x2="32588" y2="87578"/>
                        <a14:foregroundMark x1="41534" y1="57143" x2="41534" y2="82609"/>
                        <a14:foregroundMark x1="41534" y1="82609" x2="44728" y2="94410"/>
                        <a14:foregroundMark x1="44728" y1="94410" x2="52396" y2="96273"/>
                        <a14:foregroundMark x1="52396" y1="96273" x2="59105" y2="88199"/>
                        <a14:foregroundMark x1="59105" y1="88199" x2="60064" y2="55901"/>
                        <a14:foregroundMark x1="67732" y1="95652" x2="67732" y2="61491"/>
                        <a14:foregroundMark x1="67732" y1="61491" x2="74441" y2="68323"/>
                        <a14:foregroundMark x1="74441" y1="68323" x2="78896" y2="79293"/>
                        <a14:foregroundMark x1="87315" y1="73029" x2="89137" y2="71429"/>
                        <a14:foregroundMark x1="89137" y1="71429" x2="95527" y2="70186"/>
                        <a14:foregroundMark x1="95598" y1="71429" x2="96805" y2="92547"/>
                        <a14:foregroundMark x1="95527" y1="70186" x2="95598" y2="71429"/>
                        <a14:foregroundMark x1="98083" y1="67702" x2="91374" y2="65217"/>
                        <a14:foregroundMark x1="91374" y1="65217" x2="91374" y2="65217"/>
                        <a14:foregroundMark x1="83494" y1="79503" x2="85623" y2="78261"/>
                        <a14:foregroundMark x1="79233" y1="81988" x2="83494" y2="79503"/>
                        <a14:foregroundMark x1="79872" y1="86335" x2="85304" y2="85093"/>
                        <a14:backgroundMark x1="30351" y1="47826" x2="31629" y2="37267"/>
                        <a14:backgroundMark x1="4153" y1="65217" x2="4792" y2="80124"/>
                        <a14:backgroundMark x1="4473" y1="60870" x2="6070" y2="65839"/>
                        <a14:backgroundMark x1="3834" y1="90062" x2="4473" y2="84472"/>
                        <a14:backgroundMark x1="4153" y1="91925" x2="4792" y2="86335"/>
                        <a14:backgroundMark x1="5112" y1="91304" x2="5112" y2="86957"/>
                        <a14:backgroundMark x1="4792" y1="91304" x2="4792" y2="87578"/>
                        <a14:backgroundMark x1="3834" y1="93168" x2="4792" y2="92547"/>
                        <a14:backgroundMark x1="5751" y1="87578" x2="5751" y2="88199"/>
                        <a14:backgroundMark x1="7348" y1="30435" x2="7348" y2="30435"/>
                        <a14:backgroundMark x1="7348" y1="27950" x2="7348" y2="27950"/>
                        <a14:backgroundMark x1="7348" y1="24845" x2="7348" y2="24845"/>
                        <a14:backgroundMark x1="7668" y1="26087" x2="7668" y2="26087"/>
                        <a14:backgroundMark x1="7348" y1="24224" x2="7348" y2="24224"/>
                        <a14:backgroundMark x1="7668" y1="24224" x2="7668" y2="24224"/>
                        <a14:backgroundMark x1="7668" y1="22981" x2="7668" y2="22981"/>
                        <a14:backgroundMark x1="7668" y1="21739" x2="7668" y2="21739"/>
                        <a14:backgroundMark x1="7348" y1="20497" x2="7348" y2="20497"/>
                        <a14:backgroundMark x1="58466" y1="10559" x2="61022" y2="11180"/>
                        <a14:backgroundMark x1="57827" y1="10559" x2="57827" y2="10559"/>
                        <a14:backgroundMark x1="61661" y1="11180" x2="61661" y2="11180"/>
                        <a14:backgroundMark x1="82109" y1="12422" x2="82109" y2="12422"/>
                        <a14:backgroundMark x1="23003" y1="82609" x2="23003" y2="82609"/>
                        <a14:backgroundMark x1="82109" y1="76398" x2="82428" y2="77640"/>
                        <a14:backgroundMark x1="82428" y1="79503" x2="82428" y2="79503"/>
                        <a14:backgroundMark x1="92013" y1="71429" x2="92013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269" y="2382772"/>
            <a:ext cx="531019" cy="27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9645A1-96B3-F98D-C5E1-076D64947E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9552" y="2702292"/>
            <a:ext cx="500450" cy="50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50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4E560-6C25-B68E-24FE-F30A6AEE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87FA65-D88C-C9CD-64B1-749E6AEE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1F7075-3D90-F98A-56AB-1C24E949F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da-DK" dirty="0">
                <a:solidFill>
                  <a:srgbClr val="FFFFFF"/>
                </a:solidFill>
              </a:rPr>
              <a:t>Koncept &amp; Værdi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9BF18C-4EDB-AF52-AF5A-CAD145C53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53B065-6337-8F21-846A-97EEB2507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476" y="1587970"/>
            <a:ext cx="4727047" cy="475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9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B12A4-F9F2-12B9-71F6-6752533D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F698889-5199-EAE5-8936-E508B7349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7272F-BA61-458C-27E9-23504B0B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da-DK" dirty="0">
                <a:solidFill>
                  <a:srgbClr val="FFFFFF"/>
                </a:solidFill>
              </a:rPr>
              <a:t>Designvalg &amp; Metode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543CA4-998D-A239-159E-592FD5961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19FEC35-CD46-A76A-F23C-0D5ACFA6DE1D}"/>
              </a:ext>
            </a:extLst>
          </p:cNvPr>
          <p:cNvSpPr/>
          <p:nvPr/>
        </p:nvSpPr>
        <p:spPr>
          <a:xfrm>
            <a:off x="838200" y="2086580"/>
            <a:ext cx="10515600" cy="1499400"/>
          </a:xfrm>
          <a:custGeom>
            <a:avLst/>
            <a:gdLst>
              <a:gd name="connsiteX0" fmla="*/ 0 w 10515600"/>
              <a:gd name="connsiteY0" fmla="*/ 0 h 1499400"/>
              <a:gd name="connsiteX1" fmla="*/ 10515600 w 10515600"/>
              <a:gd name="connsiteY1" fmla="*/ 0 h 1499400"/>
              <a:gd name="connsiteX2" fmla="*/ 10515600 w 10515600"/>
              <a:gd name="connsiteY2" fmla="*/ 1499400 h 1499400"/>
              <a:gd name="connsiteX3" fmla="*/ 0 w 10515600"/>
              <a:gd name="connsiteY3" fmla="*/ 1499400 h 1499400"/>
              <a:gd name="connsiteX4" fmla="*/ 0 w 10515600"/>
              <a:gd name="connsiteY4" fmla="*/ 0 h 149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15600" h="1499400">
                <a:moveTo>
                  <a:pt x="0" y="0"/>
                </a:moveTo>
                <a:lnTo>
                  <a:pt x="10515600" y="0"/>
                </a:lnTo>
                <a:lnTo>
                  <a:pt x="10515600" y="1499400"/>
                </a:lnTo>
                <a:lnTo>
                  <a:pt x="0" y="149940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6127" tIns="291592" rIns="816127" bIns="99568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b="1" kern="1200" dirty="0"/>
              <a:t>Idegenerering og konceptudvikling</a:t>
            </a:r>
            <a:endParaRPr lang="en-US" sz="1400" b="1" kern="1200" dirty="0"/>
          </a:p>
          <a:p>
            <a:pPr marL="228600" lvl="2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i="1" kern="1200" dirty="0"/>
              <a:t>Divergent</a:t>
            </a:r>
            <a:r>
              <a:rPr lang="da-DK" sz="1400" kern="1200" dirty="0"/>
              <a:t>: </a:t>
            </a:r>
            <a:r>
              <a:rPr lang="da-DK" sz="1400" kern="1200" dirty="0" err="1"/>
              <a:t>Literatursøgning</a:t>
            </a:r>
            <a:r>
              <a:rPr lang="da-DK" sz="1400" kern="1200" dirty="0"/>
              <a:t> &amp; Forventningsafstemning med </a:t>
            </a:r>
            <a:r>
              <a:rPr lang="da-DK" sz="1400" kern="1200" dirty="0" err="1"/>
              <a:t>Enigma</a:t>
            </a:r>
            <a:endParaRPr lang="en-US" sz="1400" kern="1200" dirty="0"/>
          </a:p>
          <a:p>
            <a:pPr marL="228600" lvl="2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i="1" kern="1200" dirty="0" err="1"/>
              <a:t>Convergent</a:t>
            </a:r>
            <a:r>
              <a:rPr lang="da-DK" sz="1400" kern="1200" dirty="0"/>
              <a:t>: Decision-matrix ud fra design kriterier</a:t>
            </a:r>
            <a:endParaRPr lang="en-US" sz="1400" kern="1200" dirty="0"/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b="1" kern="1200" dirty="0"/>
              <a:t>Iterativ </a:t>
            </a:r>
            <a:r>
              <a:rPr lang="da-DK" sz="1400" b="1" kern="1200" dirty="0" err="1"/>
              <a:t>prototyping</a:t>
            </a:r>
            <a:endParaRPr lang="en-US" sz="1400" b="1" kern="1200" dirty="0"/>
          </a:p>
          <a:p>
            <a:pPr marL="228600" lvl="2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kern="1200" dirty="0"/>
              <a:t>Skitser, </a:t>
            </a:r>
            <a:r>
              <a:rPr lang="da-DK" sz="1400" kern="1200" dirty="0" err="1"/>
              <a:t>Figma</a:t>
            </a:r>
            <a:r>
              <a:rPr lang="da-DK" sz="1400" kern="1200" dirty="0"/>
              <a:t>, </a:t>
            </a:r>
            <a:r>
              <a:rPr lang="da-DK" sz="1400" kern="1200" dirty="0" err="1"/>
              <a:t>Maze</a:t>
            </a:r>
            <a:r>
              <a:rPr lang="da-DK" sz="1400" kern="1200" dirty="0"/>
              <a:t> tests, Observation</a:t>
            </a:r>
            <a:endParaRPr lang="en-US" sz="1400" kern="12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7852000-B82E-B694-A81C-82E223D051CE}"/>
              </a:ext>
            </a:extLst>
          </p:cNvPr>
          <p:cNvSpPr/>
          <p:nvPr/>
        </p:nvSpPr>
        <p:spPr>
          <a:xfrm>
            <a:off x="1363980" y="1879940"/>
            <a:ext cx="4917948" cy="413280"/>
          </a:xfrm>
          <a:custGeom>
            <a:avLst/>
            <a:gdLst>
              <a:gd name="connsiteX0" fmla="*/ 0 w 7360920"/>
              <a:gd name="connsiteY0" fmla="*/ 68881 h 413280"/>
              <a:gd name="connsiteX1" fmla="*/ 68881 w 7360920"/>
              <a:gd name="connsiteY1" fmla="*/ 0 h 413280"/>
              <a:gd name="connsiteX2" fmla="*/ 7292039 w 7360920"/>
              <a:gd name="connsiteY2" fmla="*/ 0 h 413280"/>
              <a:gd name="connsiteX3" fmla="*/ 7360920 w 7360920"/>
              <a:gd name="connsiteY3" fmla="*/ 68881 h 413280"/>
              <a:gd name="connsiteX4" fmla="*/ 7360920 w 7360920"/>
              <a:gd name="connsiteY4" fmla="*/ 344399 h 413280"/>
              <a:gd name="connsiteX5" fmla="*/ 7292039 w 7360920"/>
              <a:gd name="connsiteY5" fmla="*/ 413280 h 413280"/>
              <a:gd name="connsiteX6" fmla="*/ 68881 w 7360920"/>
              <a:gd name="connsiteY6" fmla="*/ 413280 h 413280"/>
              <a:gd name="connsiteX7" fmla="*/ 0 w 7360920"/>
              <a:gd name="connsiteY7" fmla="*/ 344399 h 413280"/>
              <a:gd name="connsiteX8" fmla="*/ 0 w 7360920"/>
              <a:gd name="connsiteY8" fmla="*/ 68881 h 41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60920" h="413280">
                <a:moveTo>
                  <a:pt x="0" y="68881"/>
                </a:moveTo>
                <a:cubicBezTo>
                  <a:pt x="0" y="30839"/>
                  <a:pt x="30839" y="0"/>
                  <a:pt x="68881" y="0"/>
                </a:cubicBezTo>
                <a:lnTo>
                  <a:pt x="7292039" y="0"/>
                </a:lnTo>
                <a:cubicBezTo>
                  <a:pt x="7330081" y="0"/>
                  <a:pt x="7360920" y="30839"/>
                  <a:pt x="7360920" y="68881"/>
                </a:cubicBezTo>
                <a:lnTo>
                  <a:pt x="7360920" y="344399"/>
                </a:lnTo>
                <a:cubicBezTo>
                  <a:pt x="7360920" y="382441"/>
                  <a:pt x="7330081" y="413280"/>
                  <a:pt x="7292039" y="413280"/>
                </a:cubicBezTo>
                <a:lnTo>
                  <a:pt x="68881" y="413280"/>
                </a:lnTo>
                <a:cubicBezTo>
                  <a:pt x="30839" y="413280"/>
                  <a:pt x="0" y="382441"/>
                  <a:pt x="0" y="344399"/>
                </a:cubicBezTo>
                <a:lnTo>
                  <a:pt x="0" y="6888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8400" tIns="20175" rIns="298400" bIns="20175" numCol="1" spcCol="1270" anchor="ctr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a-DK" sz="1400" kern="1200" dirty="0"/>
              <a:t>Udviklingsmetode</a:t>
            </a:r>
            <a:endParaRPr lang="en-US" sz="1400" kern="120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BF0D50F-DAE9-AD55-4AC4-A062051BBC66}"/>
              </a:ext>
            </a:extLst>
          </p:cNvPr>
          <p:cNvSpPr/>
          <p:nvPr/>
        </p:nvSpPr>
        <p:spPr>
          <a:xfrm>
            <a:off x="838200" y="3868220"/>
            <a:ext cx="10515600" cy="2205000"/>
          </a:xfrm>
          <a:custGeom>
            <a:avLst/>
            <a:gdLst>
              <a:gd name="connsiteX0" fmla="*/ 0 w 10515600"/>
              <a:gd name="connsiteY0" fmla="*/ 0 h 2205000"/>
              <a:gd name="connsiteX1" fmla="*/ 10515600 w 10515600"/>
              <a:gd name="connsiteY1" fmla="*/ 0 h 2205000"/>
              <a:gd name="connsiteX2" fmla="*/ 10515600 w 10515600"/>
              <a:gd name="connsiteY2" fmla="*/ 2205000 h 2205000"/>
              <a:gd name="connsiteX3" fmla="*/ 0 w 10515600"/>
              <a:gd name="connsiteY3" fmla="*/ 2205000 h 2205000"/>
              <a:gd name="connsiteX4" fmla="*/ 0 w 10515600"/>
              <a:gd name="connsiteY4" fmla="*/ 0 h 22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15600" h="2205000">
                <a:moveTo>
                  <a:pt x="0" y="0"/>
                </a:moveTo>
                <a:lnTo>
                  <a:pt x="10515600" y="0"/>
                </a:lnTo>
                <a:lnTo>
                  <a:pt x="10515600" y="2205000"/>
                </a:lnTo>
                <a:lnTo>
                  <a:pt x="0" y="220500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2">
              <a:hueOff val="-9067203"/>
              <a:satOff val="5236"/>
              <a:lumOff val="-9607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6127" tIns="291592" rIns="816127" bIns="99568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b="1" kern="1200" dirty="0" err="1"/>
              <a:t>Gamification</a:t>
            </a:r>
            <a:endParaRPr lang="en-US" sz="1400" b="1" kern="1200" dirty="0"/>
          </a:p>
          <a:p>
            <a:pPr marL="228600" lvl="2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kern="1200" dirty="0"/>
              <a:t>Lagring af scorer i </a:t>
            </a:r>
            <a:r>
              <a:rPr lang="da-DK" sz="1400" kern="1200" dirty="0" err="1"/>
              <a:t>scoreboards</a:t>
            </a:r>
            <a:endParaRPr lang="en-US" sz="1400" kern="1200" dirty="0"/>
          </a:p>
          <a:p>
            <a:pPr marL="228600" lvl="2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kern="1200" dirty="0"/>
              <a:t>Registrering af spillere, spil, scorer og vindere</a:t>
            </a:r>
            <a:endParaRPr lang="en-US" sz="1400" kern="1200" dirty="0"/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b="1" kern="1200" dirty="0"/>
              <a:t>UI design</a:t>
            </a:r>
            <a:endParaRPr lang="en-US" sz="1400" b="1" kern="1200" dirty="0"/>
          </a:p>
          <a:p>
            <a:pPr marL="228600" lvl="2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kern="1200" dirty="0"/>
              <a:t>Brugervenlighed til bred målgruppe</a:t>
            </a:r>
            <a:endParaRPr lang="en-US" sz="1400" kern="1200" dirty="0"/>
          </a:p>
          <a:p>
            <a:pPr marL="228600" lvl="2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kern="1200" dirty="0"/>
              <a:t>Tema som matcher </a:t>
            </a:r>
            <a:r>
              <a:rPr lang="da-DK" sz="1400" kern="1200" dirty="0" err="1"/>
              <a:t>Arcadeum</a:t>
            </a:r>
            <a:r>
              <a:rPr lang="da-DK" sz="1400" kern="1200" dirty="0"/>
              <a:t>: Inspiration fra konkurrenter?</a:t>
            </a:r>
            <a:endParaRPr lang="en-US" sz="1400" kern="1200" dirty="0"/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b="1" kern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Tracking</a:t>
            </a:r>
            <a:endParaRPr lang="en-US" sz="1400" b="1" kern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28600" lvl="2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da-DK" sz="1400" kern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Lagring af data om brugeradfærd på siden og </a:t>
            </a:r>
            <a:r>
              <a:rPr lang="da-DK" sz="1400" kern="12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under-sider</a:t>
            </a:r>
            <a:endParaRPr lang="en-US" sz="1400" kern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7C814A4-88C6-1E85-726C-CEFFD84BC235}"/>
              </a:ext>
            </a:extLst>
          </p:cNvPr>
          <p:cNvSpPr/>
          <p:nvPr/>
        </p:nvSpPr>
        <p:spPr>
          <a:xfrm>
            <a:off x="1363980" y="3661580"/>
            <a:ext cx="4917948" cy="413280"/>
          </a:xfrm>
          <a:custGeom>
            <a:avLst/>
            <a:gdLst>
              <a:gd name="connsiteX0" fmla="*/ 0 w 7360920"/>
              <a:gd name="connsiteY0" fmla="*/ 68881 h 413280"/>
              <a:gd name="connsiteX1" fmla="*/ 68881 w 7360920"/>
              <a:gd name="connsiteY1" fmla="*/ 0 h 413280"/>
              <a:gd name="connsiteX2" fmla="*/ 7292039 w 7360920"/>
              <a:gd name="connsiteY2" fmla="*/ 0 h 413280"/>
              <a:gd name="connsiteX3" fmla="*/ 7360920 w 7360920"/>
              <a:gd name="connsiteY3" fmla="*/ 68881 h 413280"/>
              <a:gd name="connsiteX4" fmla="*/ 7360920 w 7360920"/>
              <a:gd name="connsiteY4" fmla="*/ 344399 h 413280"/>
              <a:gd name="connsiteX5" fmla="*/ 7292039 w 7360920"/>
              <a:gd name="connsiteY5" fmla="*/ 413280 h 413280"/>
              <a:gd name="connsiteX6" fmla="*/ 68881 w 7360920"/>
              <a:gd name="connsiteY6" fmla="*/ 413280 h 413280"/>
              <a:gd name="connsiteX7" fmla="*/ 0 w 7360920"/>
              <a:gd name="connsiteY7" fmla="*/ 344399 h 413280"/>
              <a:gd name="connsiteX8" fmla="*/ 0 w 7360920"/>
              <a:gd name="connsiteY8" fmla="*/ 68881 h 41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60920" h="413280">
                <a:moveTo>
                  <a:pt x="0" y="68881"/>
                </a:moveTo>
                <a:cubicBezTo>
                  <a:pt x="0" y="30839"/>
                  <a:pt x="30839" y="0"/>
                  <a:pt x="68881" y="0"/>
                </a:cubicBezTo>
                <a:lnTo>
                  <a:pt x="7292039" y="0"/>
                </a:lnTo>
                <a:cubicBezTo>
                  <a:pt x="7330081" y="0"/>
                  <a:pt x="7360920" y="30839"/>
                  <a:pt x="7360920" y="68881"/>
                </a:cubicBezTo>
                <a:lnTo>
                  <a:pt x="7360920" y="344399"/>
                </a:lnTo>
                <a:cubicBezTo>
                  <a:pt x="7360920" y="382441"/>
                  <a:pt x="7330081" y="413280"/>
                  <a:pt x="7292039" y="413280"/>
                </a:cubicBezTo>
                <a:lnTo>
                  <a:pt x="68881" y="413280"/>
                </a:lnTo>
                <a:cubicBezTo>
                  <a:pt x="30839" y="413280"/>
                  <a:pt x="0" y="382441"/>
                  <a:pt x="0" y="344399"/>
                </a:cubicBezTo>
                <a:lnTo>
                  <a:pt x="0" y="6888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067203"/>
              <a:satOff val="5236"/>
              <a:lumOff val="-9607"/>
              <a:alphaOff val="0"/>
            </a:schemeClr>
          </a:fillRef>
          <a:effectRef idx="0">
            <a:schemeClr val="accent2">
              <a:hueOff val="-9067203"/>
              <a:satOff val="5236"/>
              <a:lumOff val="-9607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8400" tIns="20175" rIns="298400" bIns="20175" numCol="1" spcCol="1270" anchor="ctr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a-DK" sz="1400" kern="1200" dirty="0"/>
              <a:t>Principper for design og teknologi</a:t>
            </a:r>
            <a:endParaRPr lang="en-US" sz="1400" kern="1200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034301E-A145-CC26-3DF8-12DCCADD8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98" y="2911465"/>
            <a:ext cx="10634604" cy="3306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2EEE6811-803B-9F85-B226-6C753B89C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84355"/>
              </p:ext>
            </p:extLst>
          </p:nvPr>
        </p:nvGraphicFramePr>
        <p:xfrm>
          <a:off x="7066412" y="2419302"/>
          <a:ext cx="4144693" cy="3330575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960715">
                  <a:extLst>
                    <a:ext uri="{9D8B030D-6E8A-4147-A177-3AD203B41FA5}">
                      <a16:colId xmlns:a16="http://schemas.microsoft.com/office/drawing/2014/main" val="2173746702"/>
                    </a:ext>
                  </a:extLst>
                </a:gridCol>
                <a:gridCol w="1492548">
                  <a:extLst>
                    <a:ext uri="{9D8B030D-6E8A-4147-A177-3AD203B41FA5}">
                      <a16:colId xmlns:a16="http://schemas.microsoft.com/office/drawing/2014/main" val="1627700195"/>
                    </a:ext>
                  </a:extLst>
                </a:gridCol>
                <a:gridCol w="1691430">
                  <a:extLst>
                    <a:ext uri="{9D8B030D-6E8A-4147-A177-3AD203B41FA5}">
                      <a16:colId xmlns:a16="http://schemas.microsoft.com/office/drawing/2014/main" val="2422212063"/>
                    </a:ext>
                  </a:extLst>
                </a:gridCol>
              </a:tblGrid>
              <a:tr h="138773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Kriterie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Lav-dit-eget-spil</a:t>
                      </a:r>
                      <a:br>
                        <a:rPr lang="en-DK" sz="400">
                          <a:effectLst/>
                        </a:rPr>
                      </a:br>
                      <a:r>
                        <a:rPr lang="en-DK" sz="400">
                          <a:effectLst/>
                        </a:rPr>
                        <a:t>(NFC baseret):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QR konkurrence hjemmeside: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3659872379"/>
                  </a:ext>
                </a:extLst>
              </a:tr>
              <a:tr h="277548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Udførlighed: Kan prototypen udvikles inden for bachelorprojektets rammer og premisser?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 dirty="0">
                          <a:effectLst/>
                        </a:rPr>
                        <a:t>2 – </a:t>
                      </a:r>
                      <a:r>
                        <a:rPr lang="en-DK" sz="400" dirty="0" err="1">
                          <a:effectLst/>
                        </a:rPr>
                        <a:t>Kræver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fysisk</a:t>
                      </a:r>
                      <a:r>
                        <a:rPr lang="en-DK" sz="400" dirty="0">
                          <a:effectLst/>
                        </a:rPr>
                        <a:t> NFC-integration, </a:t>
                      </a:r>
                      <a:r>
                        <a:rPr lang="en-DK" sz="400" dirty="0" err="1">
                          <a:effectLst/>
                        </a:rPr>
                        <a:t>programmering</a:t>
                      </a:r>
                      <a:r>
                        <a:rPr lang="en-DK" sz="400" dirty="0">
                          <a:effectLst/>
                        </a:rPr>
                        <a:t> og playtesting </a:t>
                      </a:r>
                      <a:r>
                        <a:rPr lang="en-DK" sz="400" dirty="0" err="1">
                          <a:effectLst/>
                        </a:rPr>
                        <a:t>af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videospil</a:t>
                      </a:r>
                      <a:r>
                        <a:rPr lang="en-DK" sz="400" dirty="0">
                          <a:effectLst/>
                        </a:rPr>
                        <a:t>, </a:t>
                      </a:r>
                      <a:r>
                        <a:rPr lang="en-DK" sz="400" dirty="0" err="1">
                          <a:effectLst/>
                        </a:rPr>
                        <a:t>samt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hardwareopsætning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i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udstillingen</a:t>
                      </a:r>
                      <a:r>
                        <a:rPr lang="en-DK" sz="400" dirty="0">
                          <a:effectLst/>
                        </a:rPr>
                        <a:t>.</a:t>
                      </a:r>
                      <a:endParaRPr lang="en-US" sz="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4 – Webbaseret og dermed ikke fysisk. Kræver stadig bruger-tests, men er ikke afhængig af fysiske hardware-rammer udover en server til at webhoste siden.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3838072706"/>
                  </a:ext>
                </a:extLst>
              </a:tr>
              <a:tr h="208161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Bruger-engagement: Hvorvidt skaber idéen en engagerende oplevelse for gæster i Arcadeum?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3 – Interaktion gennem kreativt design af spil, men kræver at de lærer forståelsen af skabelses-processen af systemet.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4 – Konkurrence skaber intuitivt engagement mellem deltagende, da de allerede kender hinanden og tidligere erfaringer med konkurrence.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2848029368"/>
                  </a:ext>
                </a:extLst>
              </a:tr>
              <a:tr h="277548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Kreativitet &amp; Medskabelse: Hvorvidt opfordrer idéen til kreativt engagement iblandt gæster?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5 – Brugerne kan selv lave et spil, hvilket giver ejerskab og variation i en bruger-defineret spil-oplevelse.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2 – Brugerne kan kun deltage i et foruddefineret konkurrence-format.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3600961362"/>
                  </a:ext>
                </a:extLst>
              </a:tr>
              <a:tr h="208161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Vedligehold &amp; holdbarhed: Hvor nem er prototypen at vedligeholde i operativ tilstand?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2 – Kræver fysisk opsætning og kan være sårbar for fysisk slitage.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5 – Webbaseret og kræver dermed kun vedligehold af serveren og hjemmesiden.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128785438"/>
                  </a:ext>
                </a:extLst>
              </a:tr>
              <a:tr h="346935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Tilbørlighed i museumskontekst: Hvor godt stemmer idéen overens med Enigmas’ formidlingsvision i Arcadeum?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4 – Opfordrer til kreativitet på basis af eksisterende spil-symboler (repræsenteret i klassiske spil i Arcadeum udstilligen eller fra gæsters hukommelse).</a:t>
                      </a:r>
                      <a:br>
                        <a:rPr lang="en-DK" sz="400">
                          <a:effectLst/>
                        </a:rPr>
                      </a:br>
                      <a:r>
                        <a:rPr lang="en-DK" sz="400">
                          <a:effectLst/>
                        </a:rPr>
                        <a:t>Spillet kan dog lede opmærksomheden væk fra de andre spil.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3 – Understøtter eksisterende udstilling og fremmer social interaction med spillene og hjemmesiden som mellem-led. Kan dog virke distraherende, da den afhænger af brugerens’ smartphone, som ikke nødvendigvis er sat på “forstyr ikke”, og kan dermed modtage notifikationer eller lignende.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969018912"/>
                  </a:ext>
                </a:extLst>
              </a:tr>
              <a:tr h="277548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Forankring i spilhistorie: Hvorvidt formidler eller relaterer idéen sig til spilhistorie – emnet i Arcadeum?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4 – Brug af genkendelige, klassiske spil-ikoner associeres med spilhistorie, især i hvordan de bruges til at udforme en brugerdefineret spil-oplevelse.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3 – Fokus på high-scores og konkurrence, hvilket er relevant for spilkultur, men ikke spilhistorie.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1041829790"/>
                  </a:ext>
                </a:extLst>
              </a:tr>
              <a:tr h="208161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Juridisk tilbørlighed: Er der risiko for ophavsretlige problemer eller andre juridiske udfordringer?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1 – Brug af klassiske spil-symboler (Intellectual Properties (IPs)) som Enigma ikke nødvendigvis har rettighed til.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4 – Hjemmesiden registrerer kun gæsters’ high-scores, og afhænger ikke af IPs til at kommunikere affordances.</a:t>
                      </a:r>
                      <a:br>
                        <a:rPr lang="en-DK" sz="400">
                          <a:effectLst/>
                        </a:rPr>
                      </a:br>
                      <a:r>
                        <a:rPr lang="en-DK" sz="400">
                          <a:effectLst/>
                        </a:rPr>
                        <a:t>Også hensyn til GDPR.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1239140112"/>
                  </a:ext>
                </a:extLst>
              </a:tr>
              <a:tr h="346935">
                <a:tc>
                  <a:txBody>
                    <a:bodyPr/>
                    <a:lstStyle/>
                    <a:p>
                      <a:r>
                        <a:rPr lang="en-DK" sz="400" dirty="0" err="1">
                          <a:effectLst/>
                        </a:rPr>
                        <a:t>Dataindsamlings-potentiale</a:t>
                      </a:r>
                      <a:r>
                        <a:rPr lang="en-DK" sz="400" dirty="0">
                          <a:effectLst/>
                        </a:rPr>
                        <a:t>: Kan </a:t>
                      </a:r>
                      <a:r>
                        <a:rPr lang="en-DK" sz="400" dirty="0" err="1">
                          <a:effectLst/>
                        </a:rPr>
                        <a:t>løsningen</a:t>
                      </a:r>
                      <a:r>
                        <a:rPr lang="en-DK" sz="400" dirty="0">
                          <a:effectLst/>
                        </a:rPr>
                        <a:t> give </a:t>
                      </a:r>
                      <a:r>
                        <a:rPr lang="en-DK" sz="400" dirty="0" err="1">
                          <a:effectLst/>
                        </a:rPr>
                        <a:t>indsigt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i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besøgendes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adfærd</a:t>
                      </a:r>
                      <a:r>
                        <a:rPr lang="en-DK" sz="400" dirty="0">
                          <a:effectLst/>
                        </a:rPr>
                        <a:t> og interaction med </a:t>
                      </a:r>
                      <a:r>
                        <a:rPr lang="en-DK" sz="400" dirty="0" err="1">
                          <a:effectLst/>
                        </a:rPr>
                        <a:t>udstillingen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til</a:t>
                      </a:r>
                      <a:r>
                        <a:rPr lang="en-DK" sz="400" dirty="0">
                          <a:effectLst/>
                        </a:rPr>
                        <a:t> at </a:t>
                      </a:r>
                      <a:r>
                        <a:rPr lang="en-DK" sz="400" dirty="0" err="1">
                          <a:effectLst/>
                        </a:rPr>
                        <a:t>informere</a:t>
                      </a:r>
                      <a:r>
                        <a:rPr lang="en-DK" sz="400" dirty="0">
                          <a:effectLst/>
                        </a:rPr>
                        <a:t> Enigma om </a:t>
                      </a:r>
                      <a:r>
                        <a:rPr lang="en-DK" sz="400" dirty="0" err="1">
                          <a:effectLst/>
                        </a:rPr>
                        <a:t>deres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gæster</a:t>
                      </a:r>
                      <a:r>
                        <a:rPr lang="en-DK" sz="400" dirty="0">
                          <a:effectLst/>
                        </a:rPr>
                        <a:t>?</a:t>
                      </a:r>
                      <a:endParaRPr lang="en-US" sz="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2 – Dataindsamling begrænset til interaktioner inden for det konstruerede spil-system.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5 – Kan tracke besøgendes brugsmønstre og konkurrenceadfærd i Arcadeum. Denne data kan bruges til at uddrage indsigter om gæster i Arcadeum: f.eks.: hvilke spil spilles i længest tid, hvor mange spil spiller gæster, og hvilke spil er mest populære.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604273683"/>
                  </a:ext>
                </a:extLst>
              </a:tr>
              <a:tr h="346935">
                <a:tc>
                  <a:txBody>
                    <a:bodyPr/>
                    <a:lstStyle/>
                    <a:p>
                      <a:r>
                        <a:rPr lang="en-DK" sz="400" dirty="0" err="1">
                          <a:effectLst/>
                        </a:rPr>
                        <a:t>Omkostninger</a:t>
                      </a:r>
                      <a:r>
                        <a:rPr lang="en-DK" sz="400" dirty="0">
                          <a:effectLst/>
                        </a:rPr>
                        <a:t> &amp; Resource-</a:t>
                      </a:r>
                      <a:r>
                        <a:rPr lang="en-DK" sz="400" dirty="0" err="1">
                          <a:effectLst/>
                        </a:rPr>
                        <a:t>effektivitet</a:t>
                      </a:r>
                      <a:r>
                        <a:rPr lang="en-DK" sz="400" dirty="0">
                          <a:effectLst/>
                        </a:rPr>
                        <a:t>: </a:t>
                      </a:r>
                      <a:r>
                        <a:rPr lang="en-DK" sz="400" dirty="0" err="1">
                          <a:effectLst/>
                        </a:rPr>
                        <a:t>Hvor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dyrt</a:t>
                      </a:r>
                      <a:r>
                        <a:rPr lang="en-DK" sz="400" dirty="0">
                          <a:effectLst/>
                        </a:rPr>
                        <a:t> og </a:t>
                      </a:r>
                      <a:r>
                        <a:rPr lang="en-DK" sz="400" dirty="0" err="1">
                          <a:effectLst/>
                        </a:rPr>
                        <a:t>ressourcekrævende</a:t>
                      </a:r>
                      <a:r>
                        <a:rPr lang="en-DK" sz="400" dirty="0">
                          <a:effectLst/>
                        </a:rPr>
                        <a:t> er </a:t>
                      </a:r>
                      <a:r>
                        <a:rPr lang="en-DK" sz="400" dirty="0" err="1">
                          <a:effectLst/>
                        </a:rPr>
                        <a:t>udvikling</a:t>
                      </a:r>
                      <a:r>
                        <a:rPr lang="en-DK" sz="400" dirty="0">
                          <a:effectLst/>
                        </a:rPr>
                        <a:t> og </a:t>
                      </a:r>
                      <a:r>
                        <a:rPr lang="en-DK" sz="400" dirty="0" err="1">
                          <a:effectLst/>
                        </a:rPr>
                        <a:t>implementeringen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af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prototypen</a:t>
                      </a:r>
                      <a:r>
                        <a:rPr lang="en-DK" sz="400" dirty="0">
                          <a:effectLst/>
                        </a:rPr>
                        <a:t>?</a:t>
                      </a:r>
                      <a:endParaRPr lang="en-US" sz="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 dirty="0">
                          <a:effectLst/>
                        </a:rPr>
                        <a:t>1 – </a:t>
                      </a:r>
                      <a:r>
                        <a:rPr lang="en-DK" sz="400" dirty="0" err="1">
                          <a:effectLst/>
                        </a:rPr>
                        <a:t>Kræver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specialudviklet</a:t>
                      </a:r>
                      <a:r>
                        <a:rPr lang="en-DK" sz="400" dirty="0">
                          <a:effectLst/>
                        </a:rPr>
                        <a:t> hardware, NFC-</a:t>
                      </a:r>
                      <a:r>
                        <a:rPr lang="en-DK" sz="400" dirty="0" err="1">
                          <a:effectLst/>
                        </a:rPr>
                        <a:t>komponenter</a:t>
                      </a:r>
                      <a:r>
                        <a:rPr lang="en-DK" sz="400" dirty="0">
                          <a:effectLst/>
                        </a:rPr>
                        <a:t> og </a:t>
                      </a:r>
                      <a:r>
                        <a:rPr lang="en-DK" sz="400" dirty="0" err="1">
                          <a:effectLst/>
                        </a:rPr>
                        <a:t>fysisk</a:t>
                      </a:r>
                      <a:r>
                        <a:rPr lang="en-DK" sz="400" dirty="0">
                          <a:effectLst/>
                        </a:rPr>
                        <a:t> installation. </a:t>
                      </a:r>
                      <a:r>
                        <a:rPr lang="en-DK" sz="400" dirty="0" err="1">
                          <a:effectLst/>
                        </a:rPr>
                        <a:t>Slitage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kan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også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nødvendiggøre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udgifter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mht</a:t>
                      </a:r>
                      <a:r>
                        <a:rPr lang="en-DK" sz="400" dirty="0">
                          <a:effectLst/>
                        </a:rPr>
                        <a:t>. </a:t>
                      </a:r>
                      <a:r>
                        <a:rPr lang="en-DK" sz="400" dirty="0" err="1">
                          <a:effectLst/>
                        </a:rPr>
                        <a:t>Reperation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eller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erstatning</a:t>
                      </a:r>
                      <a:r>
                        <a:rPr lang="en-DK" sz="400" dirty="0">
                          <a:effectLst/>
                        </a:rPr>
                        <a:t>.</a:t>
                      </a:r>
                      <a:endParaRPr lang="en-US" sz="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4 – Kun behov for en webserver; udgifter i form af abonnoment til f.eks.: One.com.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2976344768"/>
                  </a:ext>
                </a:extLst>
              </a:tr>
              <a:tr h="346935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Fleksibilitet og skalérbarhed: Hvor nemt kan systemet ændres, flyttes eller udvides mht. Evt. overrækning af prototypen til Enigma?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 dirty="0">
                          <a:effectLst/>
                        </a:rPr>
                        <a:t>2 – </a:t>
                      </a:r>
                      <a:r>
                        <a:rPr lang="en-DK" sz="400" dirty="0" err="1">
                          <a:effectLst/>
                        </a:rPr>
                        <a:t>Svær</a:t>
                      </a:r>
                      <a:r>
                        <a:rPr lang="en-DK" sz="400" dirty="0">
                          <a:effectLst/>
                        </a:rPr>
                        <a:t> at </a:t>
                      </a:r>
                      <a:r>
                        <a:rPr lang="en-DK" sz="400" dirty="0" err="1">
                          <a:effectLst/>
                        </a:rPr>
                        <a:t>ændre</a:t>
                      </a:r>
                      <a:r>
                        <a:rPr lang="en-DK" sz="400" dirty="0">
                          <a:effectLst/>
                        </a:rPr>
                        <a:t> og </a:t>
                      </a:r>
                      <a:r>
                        <a:rPr lang="en-DK" sz="400" dirty="0" err="1">
                          <a:effectLst/>
                        </a:rPr>
                        <a:t>flytte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pga</a:t>
                      </a:r>
                      <a:r>
                        <a:rPr lang="en-DK" sz="400" dirty="0">
                          <a:effectLst/>
                        </a:rPr>
                        <a:t>. </a:t>
                      </a:r>
                      <a:r>
                        <a:rPr lang="en-DK" sz="400" dirty="0" err="1">
                          <a:effectLst/>
                        </a:rPr>
                        <a:t>Afhængighed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af</a:t>
                      </a:r>
                      <a:r>
                        <a:rPr lang="en-DK" sz="400" dirty="0">
                          <a:effectLst/>
                        </a:rPr>
                        <a:t> NFC-hardware og </a:t>
                      </a:r>
                      <a:r>
                        <a:rPr lang="en-DK" sz="400" dirty="0" err="1">
                          <a:effectLst/>
                        </a:rPr>
                        <a:t>brugerflade</a:t>
                      </a:r>
                      <a:r>
                        <a:rPr lang="en-DK" sz="400" dirty="0">
                          <a:effectLst/>
                        </a:rPr>
                        <a:t>.</a:t>
                      </a:r>
                      <a:endParaRPr lang="en-US" sz="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 dirty="0">
                          <a:effectLst/>
                        </a:rPr>
                        <a:t>5 – Kan </a:t>
                      </a:r>
                      <a:r>
                        <a:rPr lang="en-DK" sz="400" dirty="0" err="1">
                          <a:effectLst/>
                        </a:rPr>
                        <a:t>opdateres</a:t>
                      </a:r>
                      <a:r>
                        <a:rPr lang="en-DK" sz="400" dirty="0">
                          <a:effectLst/>
                        </a:rPr>
                        <a:t> og </a:t>
                      </a:r>
                      <a:r>
                        <a:rPr lang="en-DK" sz="400" dirty="0" err="1">
                          <a:effectLst/>
                        </a:rPr>
                        <a:t>udvides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eksternt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uden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fysiske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ændringer</a:t>
                      </a:r>
                      <a:r>
                        <a:rPr lang="en-DK" sz="400" dirty="0">
                          <a:effectLst/>
                        </a:rPr>
                        <a:t>, og </a:t>
                      </a:r>
                      <a:r>
                        <a:rPr lang="en-DK" sz="400" dirty="0" err="1">
                          <a:effectLst/>
                        </a:rPr>
                        <a:t>kan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forholdsvis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nemt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overrækes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til</a:t>
                      </a:r>
                      <a:r>
                        <a:rPr lang="en-DK" sz="400" dirty="0">
                          <a:effectLst/>
                        </a:rPr>
                        <a:t> Enigma </a:t>
                      </a:r>
                      <a:r>
                        <a:rPr lang="en-DK" sz="400" dirty="0" err="1">
                          <a:effectLst/>
                        </a:rPr>
                        <a:t>uden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hensyn</a:t>
                      </a:r>
                      <a:r>
                        <a:rPr lang="en-DK" sz="400" dirty="0">
                          <a:effectLst/>
                        </a:rPr>
                        <a:t> for hardware.</a:t>
                      </a:r>
                      <a:endParaRPr lang="en-US" sz="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241968592"/>
                  </a:ext>
                </a:extLst>
              </a:tr>
              <a:tr h="277548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Originalitet i Arcadeum: Hvorvidt skiller prototypen sig ud fra andre elementer af Arcadeum udstillingen?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 dirty="0">
                          <a:effectLst/>
                        </a:rPr>
                        <a:t>5 – Ingen </a:t>
                      </a:r>
                      <a:r>
                        <a:rPr lang="en-DK" sz="400" dirty="0" err="1">
                          <a:effectLst/>
                        </a:rPr>
                        <a:t>andre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udstillinger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i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Arcadeum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tilbyder</a:t>
                      </a:r>
                      <a:r>
                        <a:rPr lang="en-DK" sz="400" dirty="0">
                          <a:effectLst/>
                        </a:rPr>
                        <a:t> </a:t>
                      </a:r>
                      <a:r>
                        <a:rPr lang="en-DK" sz="400" dirty="0" err="1">
                          <a:effectLst/>
                        </a:rPr>
                        <a:t>gæster</a:t>
                      </a:r>
                      <a:r>
                        <a:rPr lang="en-DK" sz="400" dirty="0">
                          <a:effectLst/>
                        </a:rPr>
                        <a:t> at </a:t>
                      </a:r>
                      <a:r>
                        <a:rPr lang="en-DK" sz="400" dirty="0" err="1">
                          <a:effectLst/>
                        </a:rPr>
                        <a:t>designe</a:t>
                      </a:r>
                      <a:r>
                        <a:rPr lang="en-DK" sz="400" dirty="0">
                          <a:effectLst/>
                        </a:rPr>
                        <a:t> et </a:t>
                      </a:r>
                      <a:r>
                        <a:rPr lang="en-DK" sz="400" dirty="0" err="1">
                          <a:effectLst/>
                        </a:rPr>
                        <a:t>spil</a:t>
                      </a:r>
                      <a:r>
                        <a:rPr lang="en-DK" sz="400" dirty="0">
                          <a:effectLst/>
                        </a:rPr>
                        <a:t>.</a:t>
                      </a:r>
                      <a:endParaRPr lang="en-US" sz="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3 – High-score konkurrence finds i spil-arkader, men ikke i Enigma.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3067000798"/>
                  </a:ext>
                </a:extLst>
              </a:tr>
              <a:tr h="69387"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Samlet score: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>
                          <a:effectLst/>
                        </a:rPr>
                        <a:t>31</a:t>
                      </a:r>
                      <a:endParaRPr lang="en-US" sz="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tc>
                  <a:txBody>
                    <a:bodyPr/>
                    <a:lstStyle/>
                    <a:p>
                      <a:r>
                        <a:rPr lang="en-DK" sz="400" dirty="0">
                          <a:effectLst/>
                        </a:rPr>
                        <a:t>42</a:t>
                      </a:r>
                      <a:endParaRPr lang="en-US" sz="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5269" marR="25269" marT="0" marB="0"/>
                </a:tc>
                <a:extLst>
                  <a:ext uri="{0D108BD9-81ED-4DB2-BD59-A6C34878D82A}">
                    <a16:rowId xmlns:a16="http://schemas.microsoft.com/office/drawing/2014/main" val="3984946641"/>
                  </a:ext>
                </a:extLst>
              </a:tr>
            </a:tbl>
          </a:graphicData>
        </a:graphic>
      </p:graphicFrame>
      <p:pic>
        <p:nvPicPr>
          <p:cNvPr id="95" name="Picture 94">
            <a:extLst>
              <a:ext uri="{FF2B5EF4-FFF2-40B4-BE49-F238E27FC236}">
                <a16:creationId xmlns:a16="http://schemas.microsoft.com/office/drawing/2014/main" id="{42CC50E0-8D29-FAA6-7D1C-0C7AE12A7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66412" y="1826066"/>
            <a:ext cx="4600290" cy="4292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7B137A3-FE71-7C7A-5F23-9CD5612AF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364" y="0"/>
            <a:ext cx="3056085" cy="685800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B18C15E6-DD23-BE30-AECB-0EDA111D4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206" y="0"/>
            <a:ext cx="386040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5788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9DAC4-5E62-0ED6-8192-47594342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CE7B17-7CE7-23BF-D640-1203AC1A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BA84F5-15AF-298A-D388-1D608F7CB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da-DK" dirty="0">
                <a:solidFill>
                  <a:srgbClr val="FFFFFF"/>
                </a:solidFill>
              </a:rPr>
              <a:t>Foreløbig tidsplan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CFE47F-188A-3F15-D0E0-735880FF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10">
            <a:extLst>
              <a:ext uri="{FF2B5EF4-FFF2-40B4-BE49-F238E27FC236}">
                <a16:creationId xmlns:a16="http://schemas.microsoft.com/office/drawing/2014/main" id="{6B2BCCBD-009A-E6C8-68DF-35BA0EA077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1931494"/>
              </p:ext>
            </p:extLst>
          </p:nvPr>
        </p:nvGraphicFramePr>
        <p:xfrm>
          <a:off x="838200" y="1813613"/>
          <a:ext cx="10515600" cy="42353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23975">
                  <a:extLst>
                    <a:ext uri="{9D8B030D-6E8A-4147-A177-3AD203B41FA5}">
                      <a16:colId xmlns:a16="http://schemas.microsoft.com/office/drawing/2014/main" val="4066466875"/>
                    </a:ext>
                  </a:extLst>
                </a:gridCol>
                <a:gridCol w="3543681">
                  <a:extLst>
                    <a:ext uri="{9D8B030D-6E8A-4147-A177-3AD203B41FA5}">
                      <a16:colId xmlns:a16="http://schemas.microsoft.com/office/drawing/2014/main" val="3670523227"/>
                    </a:ext>
                  </a:extLst>
                </a:gridCol>
                <a:gridCol w="3374136">
                  <a:extLst>
                    <a:ext uri="{9D8B030D-6E8A-4147-A177-3AD203B41FA5}">
                      <a16:colId xmlns:a16="http://schemas.microsoft.com/office/drawing/2014/main" val="3704524458"/>
                    </a:ext>
                  </a:extLst>
                </a:gridCol>
                <a:gridCol w="2273808">
                  <a:extLst>
                    <a:ext uri="{9D8B030D-6E8A-4147-A177-3AD203B41FA5}">
                      <a16:colId xmlns:a16="http://schemas.microsoft.com/office/drawing/2014/main" val="264735002"/>
                    </a:ext>
                  </a:extLst>
                </a:gridCol>
              </a:tblGrid>
              <a:tr h="5583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937621"/>
                  </a:ext>
                </a:extLst>
              </a:tr>
              <a:tr h="558347">
                <a:tc>
                  <a:txBody>
                    <a:bodyPr/>
                    <a:lstStyle/>
                    <a:p>
                      <a:r>
                        <a:rPr lang="en-US" dirty="0"/>
                        <a:t>Desk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078818"/>
                  </a:ext>
                </a:extLst>
              </a:tr>
              <a:tr h="558347">
                <a:tc>
                  <a:txBody>
                    <a:bodyPr/>
                    <a:lstStyle/>
                    <a:p>
                      <a:r>
                        <a:rPr lang="en-US" dirty="0" err="1"/>
                        <a:t>Feltarbejde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008530"/>
                  </a:ext>
                </a:extLst>
              </a:tr>
              <a:tr h="558347">
                <a:tc>
                  <a:txBody>
                    <a:bodyPr/>
                    <a:lstStyle/>
                    <a:p>
                      <a:r>
                        <a:rPr lang="en-US" dirty="0" err="1"/>
                        <a:t>Analyse</a:t>
                      </a:r>
                      <a:r>
                        <a:rPr lang="en-US" dirty="0"/>
                        <a:t> &amp; </a:t>
                      </a:r>
                      <a:r>
                        <a:rPr lang="en-US" dirty="0" err="1"/>
                        <a:t>udvikling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812554"/>
                  </a:ext>
                </a:extLst>
              </a:tr>
              <a:tr h="558347">
                <a:tc>
                  <a:txBody>
                    <a:bodyPr/>
                    <a:lstStyle/>
                    <a:p>
                      <a:r>
                        <a:rPr lang="en-US" dirty="0"/>
                        <a:t>Prototype #1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58011"/>
                  </a:ext>
                </a:extLst>
              </a:tr>
              <a:tr h="558347">
                <a:tc>
                  <a:txBody>
                    <a:bodyPr/>
                    <a:lstStyle/>
                    <a:p>
                      <a:r>
                        <a:rPr lang="en-US" dirty="0"/>
                        <a:t>Prototype #2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4956"/>
                  </a:ext>
                </a:extLst>
              </a:tr>
              <a:tr h="558347">
                <a:tc>
                  <a:txBody>
                    <a:bodyPr/>
                    <a:lstStyle/>
                    <a:p>
                      <a:r>
                        <a:rPr lang="en-US" dirty="0" err="1"/>
                        <a:t>Skrivning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48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595795F-1195-75AB-0409-C7A70151CD6F}"/>
              </a:ext>
            </a:extLst>
          </p:cNvPr>
          <p:cNvSpPr/>
          <p:nvPr/>
        </p:nvSpPr>
        <p:spPr>
          <a:xfrm>
            <a:off x="10642854" y="2395686"/>
            <a:ext cx="169164" cy="36463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8B7A4C-40CF-D27B-9825-43A211B55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699759"/>
              </p:ext>
            </p:extLst>
          </p:nvPr>
        </p:nvGraphicFramePr>
        <p:xfrm>
          <a:off x="2166366" y="2130551"/>
          <a:ext cx="8037580" cy="39225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3758">
                  <a:extLst>
                    <a:ext uri="{9D8B030D-6E8A-4147-A177-3AD203B41FA5}">
                      <a16:colId xmlns:a16="http://schemas.microsoft.com/office/drawing/2014/main" val="297086304"/>
                    </a:ext>
                  </a:extLst>
                </a:gridCol>
                <a:gridCol w="934364">
                  <a:extLst>
                    <a:ext uri="{9D8B030D-6E8A-4147-A177-3AD203B41FA5}">
                      <a16:colId xmlns:a16="http://schemas.microsoft.com/office/drawing/2014/main" val="894595905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4071692582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1186631147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33228368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80908849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47875349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94388698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600985684"/>
                    </a:ext>
                  </a:extLst>
                </a:gridCol>
                <a:gridCol w="730762">
                  <a:extLst>
                    <a:ext uri="{9D8B030D-6E8A-4147-A177-3AD203B41FA5}">
                      <a16:colId xmlns:a16="http://schemas.microsoft.com/office/drawing/2014/main" val="3128869580"/>
                    </a:ext>
                  </a:extLst>
                </a:gridCol>
              </a:tblGrid>
              <a:tr h="361646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#10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#11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#12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#13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#14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#15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#16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#17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#18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#19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648597"/>
                  </a:ext>
                </a:extLst>
              </a:tr>
              <a:tr h="5085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85150"/>
                  </a:ext>
                </a:extLst>
              </a:tr>
              <a:tr h="5514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8733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83411"/>
                  </a:ext>
                </a:extLst>
              </a:tr>
              <a:tr h="6259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676797"/>
                  </a:ext>
                </a:extLst>
              </a:tr>
              <a:tr h="6746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5404"/>
                  </a:ext>
                </a:extLst>
              </a:tr>
              <a:tr h="5777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041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274DE13-83C0-265D-7E0E-AE03D3C53579}"/>
              </a:ext>
            </a:extLst>
          </p:cNvPr>
          <p:cNvSpPr txBox="1"/>
          <p:nvPr/>
        </p:nvSpPr>
        <p:spPr>
          <a:xfrm>
            <a:off x="10228135" y="2306474"/>
            <a:ext cx="1167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deadlined.15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4A0E5C-0D53-849F-F960-034BC2C2CAFC}"/>
              </a:ext>
            </a:extLst>
          </p:cNvPr>
          <p:cNvSpPr/>
          <p:nvPr/>
        </p:nvSpPr>
        <p:spPr>
          <a:xfrm>
            <a:off x="2615185" y="3728667"/>
            <a:ext cx="274320" cy="27432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449CE9-65A6-1798-D0B9-EC01B3D86641}"/>
              </a:ext>
            </a:extLst>
          </p:cNvPr>
          <p:cNvSpPr/>
          <p:nvPr/>
        </p:nvSpPr>
        <p:spPr>
          <a:xfrm>
            <a:off x="10286240" y="5649658"/>
            <a:ext cx="274320" cy="27432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8A76595-1FD7-BBA2-6CA5-0ACADFF0466E}"/>
              </a:ext>
            </a:extLst>
          </p:cNvPr>
          <p:cNvGrpSpPr/>
          <p:nvPr/>
        </p:nvGrpSpPr>
        <p:grpSpPr>
          <a:xfrm>
            <a:off x="2752345" y="2745687"/>
            <a:ext cx="7671055" cy="3041131"/>
            <a:chOff x="2752345" y="2745687"/>
            <a:chExt cx="7671055" cy="304113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3DCD859C-9193-FFF7-7964-0EC14991DEBF}"/>
                </a:ext>
              </a:extLst>
            </p:cNvPr>
            <p:cNvGrpSpPr/>
            <p:nvPr/>
          </p:nvGrpSpPr>
          <p:grpSpPr>
            <a:xfrm>
              <a:off x="2752345" y="3270250"/>
              <a:ext cx="7671055" cy="2516568"/>
              <a:chOff x="2752345" y="3270250"/>
              <a:chExt cx="7671055" cy="2516568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07E98C79-2ECA-9C9E-7B49-14C85E9E5E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345" y="3865827"/>
                <a:ext cx="1940305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78D611A0-E818-5327-61CA-A259166433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950" y="3865827"/>
                <a:ext cx="64135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9E372B92-C743-FD41-82C4-E37E1CA3FA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9850" y="3865827"/>
                <a:ext cx="74295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582932B-A64B-D4B4-FB30-7F5C812AFEF3}"/>
                  </a:ext>
                </a:extLst>
              </p:cNvPr>
              <p:cNvCxnSpPr/>
              <p:nvPr/>
            </p:nvCxnSpPr>
            <p:spPr>
              <a:xfrm>
                <a:off x="7258050" y="3865827"/>
                <a:ext cx="6223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C540FD1-8C4D-A1DB-D047-BE5F258EA447}"/>
                  </a:ext>
                </a:extLst>
              </p:cNvPr>
              <p:cNvCxnSpPr/>
              <p:nvPr/>
            </p:nvCxnSpPr>
            <p:spPr>
              <a:xfrm flipV="1">
                <a:off x="4692650" y="3270250"/>
                <a:ext cx="0" cy="59557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77B4722-1342-C92F-FC93-E6C08144CC6E}"/>
                  </a:ext>
                </a:extLst>
              </p:cNvPr>
              <p:cNvCxnSpPr/>
              <p:nvPr/>
            </p:nvCxnSpPr>
            <p:spPr>
              <a:xfrm flipV="1">
                <a:off x="4806950" y="3270250"/>
                <a:ext cx="0" cy="59557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7A6A763-69CB-3DA1-AD88-8C48852B0C8D}"/>
                  </a:ext>
                </a:extLst>
              </p:cNvPr>
              <p:cNvCxnSpPr/>
              <p:nvPr/>
            </p:nvCxnSpPr>
            <p:spPr>
              <a:xfrm>
                <a:off x="6318250" y="3865827"/>
                <a:ext cx="0" cy="64267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89D0FD0-56E1-7B5A-95DB-5B5BB3D92BD9}"/>
                  </a:ext>
                </a:extLst>
              </p:cNvPr>
              <p:cNvCxnSpPr/>
              <p:nvPr/>
            </p:nvCxnSpPr>
            <p:spPr>
              <a:xfrm>
                <a:off x="6419850" y="3865827"/>
                <a:ext cx="0" cy="65537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1723927B-B840-44A2-2D62-6788B5C44C39}"/>
                  </a:ext>
                </a:extLst>
              </p:cNvPr>
              <p:cNvCxnSpPr/>
              <p:nvPr/>
            </p:nvCxnSpPr>
            <p:spPr>
              <a:xfrm>
                <a:off x="7162800" y="3865827"/>
                <a:ext cx="0" cy="131577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86AD785-EF5C-9525-7390-3FAAFCC9A54C}"/>
                  </a:ext>
                </a:extLst>
              </p:cNvPr>
              <p:cNvCxnSpPr/>
              <p:nvPr/>
            </p:nvCxnSpPr>
            <p:spPr>
              <a:xfrm>
                <a:off x="7258050" y="3865827"/>
                <a:ext cx="0" cy="132847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79FD2E9A-9147-7AA0-1F72-3BD2C7FE143C}"/>
                  </a:ext>
                </a:extLst>
              </p:cNvPr>
              <p:cNvCxnSpPr/>
              <p:nvPr/>
            </p:nvCxnSpPr>
            <p:spPr>
              <a:xfrm>
                <a:off x="7880350" y="3865827"/>
                <a:ext cx="0" cy="1920991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DAA1789-C8BF-C57D-DED5-2D321A9293C4}"/>
                  </a:ext>
                </a:extLst>
              </p:cNvPr>
              <p:cNvCxnSpPr/>
              <p:nvPr/>
            </p:nvCxnSpPr>
            <p:spPr>
              <a:xfrm>
                <a:off x="7880350" y="5786818"/>
                <a:ext cx="254305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B85CB14E-4B5F-71C8-C1A2-E18C8CFE6F3D}"/>
                  </a:ext>
                </a:extLst>
              </p:cNvPr>
              <p:cNvCxnSpPr/>
              <p:nvPr/>
            </p:nvCxnSpPr>
            <p:spPr>
              <a:xfrm>
                <a:off x="4692650" y="3270250"/>
                <a:ext cx="1143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25F2A64-C307-1FFB-FE27-01D672DD9A4B}"/>
                  </a:ext>
                </a:extLst>
              </p:cNvPr>
              <p:cNvCxnSpPr/>
              <p:nvPr/>
            </p:nvCxnSpPr>
            <p:spPr>
              <a:xfrm>
                <a:off x="6318250" y="4514850"/>
                <a:ext cx="1016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AE46A8DD-E2D0-70FA-E775-611E413B3017}"/>
                  </a:ext>
                </a:extLst>
              </p:cNvPr>
              <p:cNvCxnSpPr/>
              <p:nvPr/>
            </p:nvCxnSpPr>
            <p:spPr>
              <a:xfrm>
                <a:off x="7162800" y="5187950"/>
                <a:ext cx="95250" cy="635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26E005A-E8AA-B171-5D62-37EE1620D4AE}"/>
                  </a:ext>
                </a:extLst>
              </p:cNvPr>
              <p:cNvCxnSpPr/>
              <p:nvPr/>
            </p:nvCxnSpPr>
            <p:spPr>
              <a:xfrm flipV="1">
                <a:off x="5454650" y="3270250"/>
                <a:ext cx="0" cy="595577"/>
              </a:xfrm>
              <a:prstGeom prst="line">
                <a:avLst/>
              </a:prstGeom>
              <a:ln w="12700"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025C8203-F1D2-852B-AC00-3B490DFBBCA9}"/>
                  </a:ext>
                </a:extLst>
              </p:cNvPr>
              <p:cNvCxnSpPr/>
              <p:nvPr/>
            </p:nvCxnSpPr>
            <p:spPr>
              <a:xfrm>
                <a:off x="5448300" y="3270250"/>
                <a:ext cx="165100" cy="0"/>
              </a:xfrm>
              <a:prstGeom prst="line">
                <a:avLst/>
              </a:prstGeom>
              <a:ln w="12700"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D2A5FE9-D384-61A5-6387-114B114ACD45}"/>
                  </a:ext>
                </a:extLst>
              </p:cNvPr>
              <p:cNvCxnSpPr/>
              <p:nvPr/>
            </p:nvCxnSpPr>
            <p:spPr>
              <a:xfrm>
                <a:off x="5613400" y="3270250"/>
                <a:ext cx="0" cy="595577"/>
              </a:xfrm>
              <a:prstGeom prst="line">
                <a:avLst/>
              </a:prstGeom>
              <a:ln w="12700"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F1EA1F2E-AC5A-582B-20F3-5BFF2FDE9203}"/>
                  </a:ext>
                </a:extLst>
              </p:cNvPr>
              <p:cNvCxnSpPr/>
              <p:nvPr/>
            </p:nvCxnSpPr>
            <p:spPr>
              <a:xfrm>
                <a:off x="5613400" y="3865827"/>
                <a:ext cx="704850" cy="0"/>
              </a:xfrm>
              <a:prstGeom prst="line">
                <a:avLst/>
              </a:prstGeom>
              <a:ln w="12700">
                <a:headEnd type="oval" w="med" len="med"/>
                <a:tailEnd type="oval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CE2BD59-26BB-AE08-5D99-97393FA7591B}"/>
                </a:ext>
              </a:extLst>
            </p:cNvPr>
            <p:cNvCxnSpPr>
              <a:cxnSpLocks/>
            </p:cNvCxnSpPr>
            <p:nvPr/>
          </p:nvCxnSpPr>
          <p:spPr>
            <a:xfrm>
              <a:off x="2752345" y="2745687"/>
              <a:ext cx="1940305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5711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5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862</Words>
  <Application>Microsoft Office PowerPoint</Application>
  <PresentationFormat>Widescreen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QR-baseret konkurrence- platform i Arcadeum</vt:lpstr>
      <vt:lpstr>Koncept &amp; Værdi</vt:lpstr>
      <vt:lpstr>Koncept &amp; Værdi</vt:lpstr>
      <vt:lpstr>Designvalg &amp; Metode</vt:lpstr>
      <vt:lpstr>Foreløbig tidsplan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Oskar Larsen</dc:creator>
  <cp:lastModifiedBy>Oskar Larsen</cp:lastModifiedBy>
  <cp:revision>2</cp:revision>
  <dcterms:created xsi:type="dcterms:W3CDTF">2025-03-06T17:58:54Z</dcterms:created>
  <dcterms:modified xsi:type="dcterms:W3CDTF">2025-05-06T18:31:40Z</dcterms:modified>
</cp:coreProperties>
</file>